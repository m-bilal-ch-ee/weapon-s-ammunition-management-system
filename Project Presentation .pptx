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Lst>
  <p:sldSz cx="18288000" cy="10287000"/>
  <p:notesSz cx="6858000" cy="9144000"/>
  <p:embeddedFontLst>
    <p:embeddedFont>
      <p:font typeface="Alegreya Sans SC" panose="020B0604020202020204" charset="0"/>
      <p:regular r:id="rId13"/>
    </p:embeddedFont>
    <p:embeddedFont>
      <p:font typeface="Alegreya Sans SC Bold" panose="020B0604020202020204" charset="0"/>
      <p:regular r:id="rId14"/>
    </p:embeddedFont>
    <p:embeddedFont>
      <p:font typeface="Fira Sans" panose="020B0503050000020004" pitchFamily="3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18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2.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476399" y="2173146"/>
            <a:ext cx="5249238" cy="6896447"/>
          </a:xfrm>
          <a:custGeom>
            <a:avLst/>
            <a:gdLst/>
            <a:ahLst/>
            <a:cxnLst/>
            <a:rect l="l" t="t" r="r" b="b"/>
            <a:pathLst>
              <a:path w="5249238" h="6896447">
                <a:moveTo>
                  <a:pt x="0" y="0"/>
                </a:moveTo>
                <a:lnTo>
                  <a:pt x="5249238" y="0"/>
                </a:lnTo>
                <a:lnTo>
                  <a:pt x="5249238" y="6896447"/>
                </a:lnTo>
                <a:lnTo>
                  <a:pt x="0" y="68964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C183D7F6-B498-43B3-948B-1728B52AA6E4}">
                <adec:decorative xmlns:adec="http://schemas.microsoft.com/office/drawing/2017/decorative" val="1"/>
              </a:ext>
            </a:extLst>
          </p:cNvPr>
          <p:cNvSpPr/>
          <p:nvPr/>
        </p:nvSpPr>
        <p:spPr>
          <a:xfrm rot="-10800000">
            <a:off x="-286818" y="1217407"/>
            <a:ext cx="5208407" cy="6842803"/>
          </a:xfrm>
          <a:custGeom>
            <a:avLst/>
            <a:gdLst/>
            <a:ahLst/>
            <a:cxnLst/>
            <a:rect l="l" t="t" r="r" b="b"/>
            <a:pathLst>
              <a:path w="5208407" h="6842803">
                <a:moveTo>
                  <a:pt x="0" y="0"/>
                </a:moveTo>
                <a:lnTo>
                  <a:pt x="5208407" y="0"/>
                </a:lnTo>
                <a:lnTo>
                  <a:pt x="5208407" y="6842803"/>
                </a:lnTo>
                <a:lnTo>
                  <a:pt x="0" y="68428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C183D7F6-B498-43B3-948B-1728B52AA6E4}">
                <adec:decorative xmlns:adec="http://schemas.microsoft.com/office/drawing/2017/decorative" val="1"/>
              </a:ext>
            </a:extLst>
          </p:cNvPr>
          <p:cNvSpPr/>
          <p:nvPr/>
        </p:nvSpPr>
        <p:spPr>
          <a:xfrm>
            <a:off x="4648200" y="3078293"/>
            <a:ext cx="13366411" cy="3043429"/>
          </a:xfrm>
          <a:custGeom>
            <a:avLst/>
            <a:gdLst/>
            <a:ahLst/>
            <a:cxnLst/>
            <a:rect l="l" t="t" r="r" b="b"/>
            <a:pathLst>
              <a:path w="13366411" h="3043429">
                <a:moveTo>
                  <a:pt x="0" y="0"/>
                </a:moveTo>
                <a:lnTo>
                  <a:pt x="13366411" y="0"/>
                </a:lnTo>
                <a:lnTo>
                  <a:pt x="13366411" y="3043429"/>
                </a:lnTo>
                <a:lnTo>
                  <a:pt x="0" y="30434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C183D7F6-B498-43B3-948B-1728B52AA6E4}">
                <adec:decorative xmlns:adec="http://schemas.microsoft.com/office/drawing/2017/decorative" val="1"/>
              </a:ext>
            </a:extLst>
          </p:cNvPr>
          <p:cNvSpPr/>
          <p:nvPr/>
        </p:nvSpPr>
        <p:spPr>
          <a:xfrm>
            <a:off x="6072780" y="2096183"/>
            <a:ext cx="6554923" cy="4114800"/>
          </a:xfrm>
          <a:custGeom>
            <a:avLst/>
            <a:gdLst/>
            <a:ahLst/>
            <a:cxnLst/>
            <a:rect l="l" t="t" r="r" b="b"/>
            <a:pathLst>
              <a:path w="6554923" h="4114800">
                <a:moveTo>
                  <a:pt x="0" y="0"/>
                </a:moveTo>
                <a:lnTo>
                  <a:pt x="6554923" y="0"/>
                </a:lnTo>
                <a:lnTo>
                  <a:pt x="655492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a:off x="13780228" y="-659099"/>
            <a:ext cx="11605199" cy="11605199"/>
          </a:xfrm>
          <a:custGeom>
            <a:avLst/>
            <a:gdLst/>
            <a:ahLst/>
            <a:cxnLst/>
            <a:rect l="l" t="t" r="r" b="b"/>
            <a:pathLst>
              <a:path w="11605199" h="11605199">
                <a:moveTo>
                  <a:pt x="0" y="0"/>
                </a:moveTo>
                <a:lnTo>
                  <a:pt x="11605198" y="0"/>
                </a:lnTo>
                <a:lnTo>
                  <a:pt x="11605198" y="11605198"/>
                </a:lnTo>
                <a:lnTo>
                  <a:pt x="0" y="1160519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TextBox 7"/>
          <p:cNvSpPr txBox="1"/>
          <p:nvPr/>
        </p:nvSpPr>
        <p:spPr>
          <a:xfrm>
            <a:off x="5136501" y="2857673"/>
            <a:ext cx="13151499" cy="2500685"/>
          </a:xfrm>
          <a:prstGeom prst="rect">
            <a:avLst/>
          </a:prstGeom>
        </p:spPr>
        <p:txBody>
          <a:bodyPr lIns="0" tIns="0" rIns="0" bIns="0" rtlCol="0" anchor="t">
            <a:spAutoFit/>
          </a:bodyPr>
          <a:lstStyle/>
          <a:p>
            <a:pPr algn="l">
              <a:lnSpc>
                <a:spcPts val="6465"/>
              </a:lnSpc>
            </a:pPr>
            <a:r>
              <a:rPr lang="en-US" sz="6401" spc="1715" dirty="0">
                <a:solidFill>
                  <a:srgbClr val="D7FDFF"/>
                </a:solidFill>
                <a:latin typeface="Alegreya Sans SC"/>
                <a:ea typeface="Alegreya Sans SC"/>
                <a:cs typeface="Alegreya Sans SC"/>
                <a:sym typeface="Alegreya Sans SC"/>
              </a:rPr>
              <a:t> WEAPON &amp; AMMUNITION MANAGEMENT SYSTEM</a:t>
            </a:r>
          </a:p>
        </p:txBody>
      </p:sp>
      <p:sp>
        <p:nvSpPr>
          <p:cNvPr id="8" name="TextBox 8"/>
          <p:cNvSpPr txBox="1"/>
          <p:nvPr/>
        </p:nvSpPr>
        <p:spPr>
          <a:xfrm>
            <a:off x="5771516" y="5287555"/>
            <a:ext cx="10145559" cy="658105"/>
          </a:xfrm>
          <a:prstGeom prst="rect">
            <a:avLst/>
          </a:prstGeom>
        </p:spPr>
        <p:txBody>
          <a:bodyPr lIns="0" tIns="0" rIns="0" bIns="0" rtlCol="0" anchor="t">
            <a:spAutoFit/>
          </a:bodyPr>
          <a:lstStyle/>
          <a:p>
            <a:pPr algn="l">
              <a:lnSpc>
                <a:spcPts val="4357"/>
              </a:lnSpc>
            </a:pPr>
            <a:r>
              <a:rPr lang="en-US" sz="4314">
                <a:solidFill>
                  <a:srgbClr val="D7FDFF"/>
                </a:solidFill>
                <a:latin typeface="Alegreya Sans SC"/>
                <a:ea typeface="Alegreya Sans SC"/>
                <a:cs typeface="Alegreya Sans SC"/>
                <a:sym typeface="Alegreya Sans SC"/>
              </a:rPr>
              <a:t>DATA STRUCTURES &amp; ALGORITHMS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14080307" y="-1732119"/>
            <a:ext cx="8415386" cy="8415386"/>
          </a:xfrm>
          <a:custGeom>
            <a:avLst/>
            <a:gdLst/>
            <a:ahLst/>
            <a:cxnLst/>
            <a:rect l="l" t="t" r="r" b="b"/>
            <a:pathLst>
              <a:path w="8415386" h="8415386">
                <a:moveTo>
                  <a:pt x="0" y="0"/>
                </a:moveTo>
                <a:lnTo>
                  <a:pt x="8415386" y="0"/>
                </a:lnTo>
                <a:lnTo>
                  <a:pt x="8415386" y="8415386"/>
                </a:lnTo>
                <a:lnTo>
                  <a:pt x="0" y="84153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TextBox 4"/>
          <p:cNvSpPr txBox="1"/>
          <p:nvPr/>
        </p:nvSpPr>
        <p:spPr>
          <a:xfrm>
            <a:off x="2739935" y="4256196"/>
            <a:ext cx="12808130" cy="2380563"/>
          </a:xfrm>
          <a:prstGeom prst="rect">
            <a:avLst/>
          </a:prstGeom>
        </p:spPr>
        <p:txBody>
          <a:bodyPr lIns="0" tIns="0" rIns="0" bIns="0" rtlCol="0" anchor="t">
            <a:spAutoFit/>
          </a:bodyPr>
          <a:lstStyle/>
          <a:p>
            <a:pPr algn="ctr">
              <a:lnSpc>
                <a:spcPts val="6337"/>
              </a:lnSpc>
            </a:pPr>
            <a:r>
              <a:rPr lang="en-US" sz="4527">
                <a:solidFill>
                  <a:srgbClr val="D7FDFF"/>
                </a:solidFill>
                <a:latin typeface="Fira Sans"/>
                <a:ea typeface="Fira Sans"/>
                <a:cs typeface="Fira Sans"/>
                <a:sym typeface="Fira Sans"/>
              </a:rPr>
              <a:t>M.FAHAD ALI</a:t>
            </a:r>
          </a:p>
          <a:p>
            <a:pPr algn="ctr">
              <a:lnSpc>
                <a:spcPts val="6337"/>
              </a:lnSpc>
            </a:pPr>
            <a:r>
              <a:rPr lang="en-US" sz="4527">
                <a:solidFill>
                  <a:srgbClr val="D7FDFF"/>
                </a:solidFill>
                <a:latin typeface="Fira Sans"/>
                <a:ea typeface="Fira Sans"/>
                <a:cs typeface="Fira Sans"/>
                <a:sym typeface="Fira Sans"/>
              </a:rPr>
              <a:t>M.BILAL CHAUDHRY</a:t>
            </a:r>
          </a:p>
          <a:p>
            <a:pPr algn="ctr">
              <a:lnSpc>
                <a:spcPts val="6337"/>
              </a:lnSpc>
              <a:spcBef>
                <a:spcPct val="0"/>
              </a:spcBef>
            </a:pPr>
            <a:r>
              <a:rPr lang="en-US" sz="4527">
                <a:solidFill>
                  <a:srgbClr val="D7FDFF"/>
                </a:solidFill>
                <a:latin typeface="Fira Sans"/>
                <a:ea typeface="Fira Sans"/>
                <a:cs typeface="Fira Sans"/>
                <a:sym typeface="Fira Sans"/>
              </a:rPr>
              <a:t>M.MUZAMMIL</a:t>
            </a:r>
          </a:p>
        </p:txBody>
      </p:sp>
      <p:sp>
        <p:nvSpPr>
          <p:cNvPr id="5" name="Freeform 5">
            <a:extLst>
              <a:ext uri="{C183D7F6-B498-43B3-948B-1728B52AA6E4}">
                <adec:decorative xmlns:adec="http://schemas.microsoft.com/office/drawing/2017/decorative" val="1"/>
              </a:ext>
            </a:extLst>
          </p:cNvPr>
          <p:cNvSpPr/>
          <p:nvPr/>
        </p:nvSpPr>
        <p:spPr>
          <a:xfrm rot="-10800000">
            <a:off x="853604" y="472515"/>
            <a:ext cx="2952452" cy="3878930"/>
          </a:xfrm>
          <a:custGeom>
            <a:avLst/>
            <a:gdLst/>
            <a:ahLst/>
            <a:cxnLst/>
            <a:rect l="l" t="t" r="r" b="b"/>
            <a:pathLst>
              <a:path w="2952452" h="3878930">
                <a:moveTo>
                  <a:pt x="0" y="0"/>
                </a:moveTo>
                <a:lnTo>
                  <a:pt x="2952453" y="0"/>
                </a:lnTo>
                <a:lnTo>
                  <a:pt x="2952453" y="3878931"/>
                </a:lnTo>
                <a:lnTo>
                  <a:pt x="0" y="38789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a:off x="-4609329" y="3260610"/>
            <a:ext cx="8415386" cy="8415386"/>
          </a:xfrm>
          <a:custGeom>
            <a:avLst/>
            <a:gdLst/>
            <a:ahLst/>
            <a:cxnLst/>
            <a:rect l="l" t="t" r="r" b="b"/>
            <a:pathLst>
              <a:path w="8415386" h="8415386">
                <a:moveTo>
                  <a:pt x="0" y="0"/>
                </a:moveTo>
                <a:lnTo>
                  <a:pt x="8415386" y="0"/>
                </a:lnTo>
                <a:lnTo>
                  <a:pt x="8415386" y="8415386"/>
                </a:lnTo>
                <a:lnTo>
                  <a:pt x="0" y="84153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rot="-10800000" flipH="1" flipV="1">
            <a:off x="0" y="-59259"/>
            <a:ext cx="2952452" cy="3878930"/>
          </a:xfrm>
          <a:custGeom>
            <a:avLst/>
            <a:gdLst/>
            <a:ahLst/>
            <a:cxnLst/>
            <a:rect l="l" t="t" r="r" b="b"/>
            <a:pathLst>
              <a:path w="2952452" h="3878930">
                <a:moveTo>
                  <a:pt x="2952452" y="3878931"/>
                </a:moveTo>
                <a:lnTo>
                  <a:pt x="0" y="3878931"/>
                </a:lnTo>
                <a:lnTo>
                  <a:pt x="0" y="0"/>
                </a:lnTo>
                <a:lnTo>
                  <a:pt x="2952452" y="0"/>
                </a:lnTo>
                <a:lnTo>
                  <a:pt x="2952452" y="3878931"/>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a:extLst>
              <a:ext uri="{C183D7F6-B498-43B3-948B-1728B52AA6E4}">
                <adec:decorative xmlns:adec="http://schemas.microsoft.com/office/drawing/2017/decorative" val="1"/>
              </a:ext>
            </a:extLst>
          </p:cNvPr>
          <p:cNvSpPr/>
          <p:nvPr/>
        </p:nvSpPr>
        <p:spPr>
          <a:xfrm>
            <a:off x="14481943" y="5876296"/>
            <a:ext cx="2952452" cy="3878930"/>
          </a:xfrm>
          <a:custGeom>
            <a:avLst/>
            <a:gdLst/>
            <a:ahLst/>
            <a:cxnLst/>
            <a:rect l="l" t="t" r="r" b="b"/>
            <a:pathLst>
              <a:path w="2952452" h="3878930">
                <a:moveTo>
                  <a:pt x="0" y="0"/>
                </a:moveTo>
                <a:lnTo>
                  <a:pt x="2952453" y="0"/>
                </a:lnTo>
                <a:lnTo>
                  <a:pt x="2952453" y="3878930"/>
                </a:lnTo>
                <a:lnTo>
                  <a:pt x="0" y="38789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a:extLst>
              <a:ext uri="{C183D7F6-B498-43B3-948B-1728B52AA6E4}">
                <adec:decorative xmlns:adec="http://schemas.microsoft.com/office/drawing/2017/decorative" val="1"/>
              </a:ext>
            </a:extLst>
          </p:cNvPr>
          <p:cNvSpPr/>
          <p:nvPr/>
        </p:nvSpPr>
        <p:spPr>
          <a:xfrm flipH="1" flipV="1">
            <a:off x="15335548" y="6408070"/>
            <a:ext cx="2952452" cy="3878930"/>
          </a:xfrm>
          <a:custGeom>
            <a:avLst/>
            <a:gdLst/>
            <a:ahLst/>
            <a:cxnLst/>
            <a:rect l="l" t="t" r="r" b="b"/>
            <a:pathLst>
              <a:path w="2952452" h="3878930">
                <a:moveTo>
                  <a:pt x="2952452" y="3878930"/>
                </a:moveTo>
                <a:lnTo>
                  <a:pt x="0" y="3878930"/>
                </a:lnTo>
                <a:lnTo>
                  <a:pt x="0" y="0"/>
                </a:lnTo>
                <a:lnTo>
                  <a:pt x="2952452" y="0"/>
                </a:lnTo>
                <a:lnTo>
                  <a:pt x="2952452" y="387893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TextBox 10"/>
          <p:cNvSpPr txBox="1"/>
          <p:nvPr/>
        </p:nvSpPr>
        <p:spPr>
          <a:xfrm>
            <a:off x="4784487" y="2415799"/>
            <a:ext cx="8719027" cy="1403873"/>
          </a:xfrm>
          <a:prstGeom prst="rect">
            <a:avLst/>
          </a:prstGeom>
        </p:spPr>
        <p:txBody>
          <a:bodyPr lIns="0" tIns="0" rIns="0" bIns="0" rtlCol="0" anchor="t">
            <a:spAutoFit/>
          </a:bodyPr>
          <a:lstStyle/>
          <a:p>
            <a:pPr algn="ctr">
              <a:lnSpc>
                <a:spcPts val="10296"/>
              </a:lnSpc>
              <a:spcBef>
                <a:spcPct val="0"/>
              </a:spcBef>
            </a:pPr>
            <a:r>
              <a:rPr lang="en-US" sz="7354" b="1">
                <a:solidFill>
                  <a:srgbClr val="D7FDFF"/>
                </a:solidFill>
                <a:latin typeface="Alegreya Sans SC Bold"/>
                <a:ea typeface="Alegreya Sans SC Bold"/>
                <a:cs typeface="Alegreya Sans SC Bold"/>
                <a:sym typeface="Alegreya Sans SC Bold"/>
              </a:rPr>
              <a:t>Team Members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784487" y="1828323"/>
            <a:ext cx="8719027" cy="1403873"/>
          </a:xfrm>
          <a:prstGeom prst="rect">
            <a:avLst/>
          </a:prstGeom>
        </p:spPr>
        <p:txBody>
          <a:bodyPr lIns="0" tIns="0" rIns="0" bIns="0" rtlCol="0" anchor="t">
            <a:spAutoFit/>
          </a:bodyPr>
          <a:lstStyle/>
          <a:p>
            <a:pPr algn="ctr">
              <a:lnSpc>
                <a:spcPts val="10296"/>
              </a:lnSpc>
              <a:spcBef>
                <a:spcPct val="0"/>
              </a:spcBef>
            </a:pPr>
            <a:r>
              <a:rPr lang="en-US" sz="7354" b="1">
                <a:solidFill>
                  <a:srgbClr val="D7FDFF"/>
                </a:solidFill>
                <a:latin typeface="Alegreya Sans SC Bold"/>
                <a:ea typeface="Alegreya Sans SC Bold"/>
                <a:cs typeface="Alegreya Sans SC Bold"/>
                <a:sym typeface="Alegreya Sans SC Bold"/>
              </a:rPr>
              <a:t>ABSTRACT</a:t>
            </a:r>
          </a:p>
        </p:txBody>
      </p:sp>
      <p:sp>
        <p:nvSpPr>
          <p:cNvPr id="3" name="Freeform 3">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739935" y="3462269"/>
            <a:ext cx="12808130" cy="4213225"/>
          </a:xfrm>
          <a:prstGeom prst="rect">
            <a:avLst/>
          </a:prstGeom>
        </p:spPr>
        <p:txBody>
          <a:bodyPr lIns="0" tIns="0" rIns="0" bIns="0" rtlCol="0" anchor="t">
            <a:spAutoFit/>
          </a:bodyPr>
          <a:lstStyle/>
          <a:p>
            <a:pPr algn="ctr">
              <a:lnSpc>
                <a:spcPts val="5600"/>
              </a:lnSpc>
              <a:spcBef>
                <a:spcPct val="0"/>
              </a:spcBef>
            </a:pPr>
            <a:r>
              <a:rPr lang="en-US" sz="4000">
                <a:solidFill>
                  <a:srgbClr val="D7FDFF"/>
                </a:solidFill>
                <a:latin typeface="Fira Sans"/>
                <a:ea typeface="Fira Sans"/>
                <a:cs typeface="Fira Sans"/>
                <a:sym typeface="Fira Sans"/>
              </a:rPr>
              <a:t>This project presents an Inventory Management System(Defence Asset Inventory) implemented using C++ and fundamental Data Structures and Algorithms (DSA). The system manages different categories of items such as handguns, rifles, armor, and ammunition.</a:t>
            </a:r>
          </a:p>
        </p:txBody>
      </p:sp>
      <p:sp>
        <p:nvSpPr>
          <p:cNvPr id="5" name="Freeform 5">
            <a:extLst>
              <a:ext uri="{C183D7F6-B498-43B3-948B-1728B52AA6E4}">
                <adec:decorative xmlns:adec="http://schemas.microsoft.com/office/drawing/2017/decorative" val="1"/>
              </a:ext>
            </a:extLst>
          </p:cNvPr>
          <p:cNvSpPr/>
          <p:nvPr/>
        </p:nvSpPr>
        <p:spPr>
          <a:xfrm rot="-10800000" flipH="1" flipV="1">
            <a:off x="1086558" y="6425555"/>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flipH="1" flipV="1">
            <a:off x="239162" y="5259319"/>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rot="-10800000" flipH="1" flipV="1">
            <a:off x="15390121" y="1822870"/>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C183D7F6-B498-43B3-948B-1728B52AA6E4}">
                <adec:decorative xmlns:adec="http://schemas.microsoft.com/office/drawing/2017/decorative" val="1"/>
              </a:ext>
            </a:extLst>
          </p:cNvPr>
          <p:cNvSpPr/>
          <p:nvPr/>
        </p:nvSpPr>
        <p:spPr>
          <a:xfrm flipH="1" flipV="1">
            <a:off x="14542725" y="656634"/>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739935" y="3462269"/>
            <a:ext cx="12808130" cy="4213225"/>
          </a:xfrm>
          <a:prstGeom prst="rect">
            <a:avLst/>
          </a:prstGeom>
        </p:spPr>
        <p:txBody>
          <a:bodyPr lIns="0" tIns="0" rIns="0" bIns="0" rtlCol="0" anchor="t">
            <a:spAutoFit/>
          </a:bodyPr>
          <a:lstStyle/>
          <a:p>
            <a:pPr algn="ctr">
              <a:lnSpc>
                <a:spcPts val="5600"/>
              </a:lnSpc>
              <a:spcBef>
                <a:spcPct val="0"/>
              </a:spcBef>
            </a:pPr>
            <a:r>
              <a:rPr lang="en-US" sz="4000">
                <a:solidFill>
                  <a:srgbClr val="D7FDFF"/>
                </a:solidFill>
                <a:latin typeface="Fira Sans"/>
                <a:ea typeface="Fira Sans"/>
                <a:cs typeface="Fira Sans"/>
                <a:sym typeface="Fira Sans"/>
              </a:rPr>
              <a:t>Inventory management is an essential component of many real-world systems such as warehouses, military storage, and retail stores. Efficient inventory handling requires fast searching, structured storage, and easy updates. Data Structures play a crucial role in optimizing these operations. </a:t>
            </a:r>
          </a:p>
        </p:txBody>
      </p:sp>
      <p:sp>
        <p:nvSpPr>
          <p:cNvPr id="4" name="TextBox 4"/>
          <p:cNvSpPr txBox="1"/>
          <p:nvPr/>
        </p:nvSpPr>
        <p:spPr>
          <a:xfrm>
            <a:off x="4784487" y="1828323"/>
            <a:ext cx="8719027" cy="1403873"/>
          </a:xfrm>
          <a:prstGeom prst="rect">
            <a:avLst/>
          </a:prstGeom>
        </p:spPr>
        <p:txBody>
          <a:bodyPr lIns="0" tIns="0" rIns="0" bIns="0" rtlCol="0" anchor="t">
            <a:spAutoFit/>
          </a:bodyPr>
          <a:lstStyle/>
          <a:p>
            <a:pPr algn="ctr">
              <a:lnSpc>
                <a:spcPts val="10296"/>
              </a:lnSpc>
              <a:spcBef>
                <a:spcPct val="0"/>
              </a:spcBef>
            </a:pPr>
            <a:r>
              <a:rPr lang="en-US" sz="7354" b="1">
                <a:solidFill>
                  <a:srgbClr val="D7FDFF"/>
                </a:solidFill>
                <a:latin typeface="Alegreya Sans SC Bold"/>
                <a:ea typeface="Alegreya Sans SC Bold"/>
                <a:cs typeface="Alegreya Sans SC Bold"/>
                <a:sym typeface="Alegreya Sans SC Bold"/>
              </a:rPr>
              <a:t>INTRODUCTION</a:t>
            </a:r>
          </a:p>
        </p:txBody>
      </p:sp>
      <p:sp>
        <p:nvSpPr>
          <p:cNvPr id="5" name="Freeform 5">
            <a:extLst>
              <a:ext uri="{C183D7F6-B498-43B3-948B-1728B52AA6E4}">
                <adec:decorative xmlns:adec="http://schemas.microsoft.com/office/drawing/2017/decorative" val="1"/>
              </a:ext>
            </a:extLst>
          </p:cNvPr>
          <p:cNvSpPr/>
          <p:nvPr/>
        </p:nvSpPr>
        <p:spPr>
          <a:xfrm flipV="1">
            <a:off x="15548065" y="6970644"/>
            <a:ext cx="2300142" cy="3021926"/>
          </a:xfrm>
          <a:custGeom>
            <a:avLst/>
            <a:gdLst/>
            <a:ahLst/>
            <a:cxnLst/>
            <a:rect l="l" t="t" r="r" b="b"/>
            <a:pathLst>
              <a:path w="2300142" h="3021926">
                <a:moveTo>
                  <a:pt x="0" y="3021926"/>
                </a:moveTo>
                <a:lnTo>
                  <a:pt x="2300142" y="3021926"/>
                </a:lnTo>
                <a:lnTo>
                  <a:pt x="2300142" y="0"/>
                </a:lnTo>
                <a:lnTo>
                  <a:pt x="0" y="0"/>
                </a:lnTo>
                <a:lnTo>
                  <a:pt x="0" y="302192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rot="-10800000" flipV="1">
            <a:off x="15372969" y="5781025"/>
            <a:ext cx="3772662" cy="4956521"/>
          </a:xfrm>
          <a:custGeom>
            <a:avLst/>
            <a:gdLst/>
            <a:ahLst/>
            <a:cxnLst/>
            <a:rect l="l" t="t" r="r" b="b"/>
            <a:pathLst>
              <a:path w="3772662" h="4956521">
                <a:moveTo>
                  <a:pt x="0" y="4956522"/>
                </a:moveTo>
                <a:lnTo>
                  <a:pt x="3772662" y="4956522"/>
                </a:lnTo>
                <a:lnTo>
                  <a:pt x="3772662" y="0"/>
                </a:lnTo>
                <a:lnTo>
                  <a:pt x="0" y="0"/>
                </a:lnTo>
                <a:lnTo>
                  <a:pt x="0" y="4956522"/>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a:off x="-3209211" y="1721233"/>
            <a:ext cx="6538053" cy="6538053"/>
          </a:xfrm>
          <a:custGeom>
            <a:avLst/>
            <a:gdLst/>
            <a:ahLst/>
            <a:cxnLst/>
            <a:rect l="l" t="t" r="r" b="b"/>
            <a:pathLst>
              <a:path w="6538053" h="6538053">
                <a:moveTo>
                  <a:pt x="0" y="0"/>
                </a:moveTo>
                <a:lnTo>
                  <a:pt x="6538053" y="0"/>
                </a:lnTo>
                <a:lnTo>
                  <a:pt x="6538053" y="6538053"/>
                </a:lnTo>
                <a:lnTo>
                  <a:pt x="0" y="65380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a:extLst>
              <a:ext uri="{C183D7F6-B498-43B3-948B-1728B52AA6E4}">
                <adec:decorative xmlns:adec="http://schemas.microsoft.com/office/drawing/2017/decorative" val="1"/>
              </a:ext>
            </a:extLst>
          </p:cNvPr>
          <p:cNvSpPr/>
          <p:nvPr/>
        </p:nvSpPr>
        <p:spPr>
          <a:xfrm flipH="1">
            <a:off x="1028700" y="210270"/>
            <a:ext cx="2300142" cy="3021926"/>
          </a:xfrm>
          <a:custGeom>
            <a:avLst/>
            <a:gdLst/>
            <a:ahLst/>
            <a:cxnLst/>
            <a:rect l="l" t="t" r="r" b="b"/>
            <a:pathLst>
              <a:path w="2300142" h="3021926">
                <a:moveTo>
                  <a:pt x="2300142" y="0"/>
                </a:moveTo>
                <a:lnTo>
                  <a:pt x="0" y="0"/>
                </a:lnTo>
                <a:lnTo>
                  <a:pt x="0" y="3021926"/>
                </a:lnTo>
                <a:lnTo>
                  <a:pt x="2300142" y="3021926"/>
                </a:lnTo>
                <a:lnTo>
                  <a:pt x="230014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a:extLst>
              <a:ext uri="{C183D7F6-B498-43B3-948B-1728B52AA6E4}">
                <adec:decorative xmlns:adec="http://schemas.microsoft.com/office/drawing/2017/decorative" val="1"/>
              </a:ext>
            </a:extLst>
          </p:cNvPr>
          <p:cNvSpPr/>
          <p:nvPr/>
        </p:nvSpPr>
        <p:spPr>
          <a:xfrm rot="-10800000" flipH="1">
            <a:off x="-857631" y="-364188"/>
            <a:ext cx="3772662" cy="4956521"/>
          </a:xfrm>
          <a:custGeom>
            <a:avLst/>
            <a:gdLst/>
            <a:ahLst/>
            <a:cxnLst/>
            <a:rect l="l" t="t" r="r" b="b"/>
            <a:pathLst>
              <a:path w="3772662" h="4956521">
                <a:moveTo>
                  <a:pt x="3772662" y="0"/>
                </a:moveTo>
                <a:lnTo>
                  <a:pt x="0" y="0"/>
                </a:lnTo>
                <a:lnTo>
                  <a:pt x="0" y="4956522"/>
                </a:lnTo>
                <a:lnTo>
                  <a:pt x="3772662" y="4956522"/>
                </a:lnTo>
                <a:lnTo>
                  <a:pt x="377266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a:extLst>
              <a:ext uri="{C183D7F6-B498-43B3-948B-1728B52AA6E4}">
                <adec:decorative xmlns:adec="http://schemas.microsoft.com/office/drawing/2017/decorative" val="1"/>
              </a:ext>
            </a:extLst>
          </p:cNvPr>
          <p:cNvSpPr/>
          <p:nvPr/>
        </p:nvSpPr>
        <p:spPr>
          <a:xfrm>
            <a:off x="14960838" y="2114073"/>
            <a:ext cx="6538053" cy="6538053"/>
          </a:xfrm>
          <a:custGeom>
            <a:avLst/>
            <a:gdLst/>
            <a:ahLst/>
            <a:cxnLst/>
            <a:rect l="l" t="t" r="r" b="b"/>
            <a:pathLst>
              <a:path w="6538053" h="6538053">
                <a:moveTo>
                  <a:pt x="0" y="0"/>
                </a:moveTo>
                <a:lnTo>
                  <a:pt x="6538054" y="0"/>
                </a:lnTo>
                <a:lnTo>
                  <a:pt x="6538054" y="6538053"/>
                </a:lnTo>
                <a:lnTo>
                  <a:pt x="0" y="65380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1511640" y="4107223"/>
            <a:ext cx="316295" cy="316295"/>
          </a:xfrm>
          <a:custGeom>
            <a:avLst/>
            <a:gdLst/>
            <a:ahLst/>
            <a:cxnLst/>
            <a:rect l="l" t="t" r="r" b="b"/>
            <a:pathLst>
              <a:path w="316295" h="316295">
                <a:moveTo>
                  <a:pt x="0" y="0"/>
                </a:moveTo>
                <a:lnTo>
                  <a:pt x="316295" y="0"/>
                </a:lnTo>
                <a:lnTo>
                  <a:pt x="316295" y="316295"/>
                </a:lnTo>
                <a:lnTo>
                  <a:pt x="0" y="3162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070440" y="3915013"/>
            <a:ext cx="13876999" cy="3044200"/>
          </a:xfrm>
          <a:prstGeom prst="rect">
            <a:avLst/>
          </a:prstGeom>
        </p:spPr>
        <p:txBody>
          <a:bodyPr lIns="0" tIns="0" rIns="0" bIns="0" rtlCol="0" anchor="t">
            <a:spAutoFit/>
          </a:bodyPr>
          <a:lstStyle/>
          <a:p>
            <a:pPr algn="just">
              <a:lnSpc>
                <a:spcPts val="4066"/>
              </a:lnSpc>
            </a:pPr>
            <a:r>
              <a:rPr lang="en-US" sz="2904">
                <a:solidFill>
                  <a:srgbClr val="D7FDFF"/>
                </a:solidFill>
                <a:latin typeface="Fira Sans"/>
                <a:ea typeface="Fira Sans"/>
                <a:cs typeface="Fira Sans"/>
                <a:sym typeface="Fira Sans"/>
              </a:rPr>
              <a:t>To design an inventory management system using C++ </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r>
              <a:rPr lang="en-US" sz="2904">
                <a:solidFill>
                  <a:srgbClr val="D7FDFF"/>
                </a:solidFill>
                <a:latin typeface="Fira Sans"/>
                <a:ea typeface="Fira Sans"/>
                <a:cs typeface="Fira Sans"/>
                <a:sym typeface="Fira Sans"/>
              </a:rPr>
              <a:t>To demonstrate practical applications of Data Stuctures and Algorithms </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spcBef>
                <a:spcPct val="0"/>
              </a:spcBef>
            </a:pPr>
            <a:endParaRPr lang="en-US" sz="2904">
              <a:solidFill>
                <a:srgbClr val="D7FDFF"/>
              </a:solidFill>
              <a:latin typeface="Fira Sans"/>
              <a:ea typeface="Fira Sans"/>
              <a:cs typeface="Fira Sans"/>
              <a:sym typeface="Fira Sans"/>
            </a:endParaRPr>
          </a:p>
        </p:txBody>
      </p:sp>
      <p:sp>
        <p:nvSpPr>
          <p:cNvPr id="4" name="TextBox 4"/>
          <p:cNvSpPr txBox="1"/>
          <p:nvPr/>
        </p:nvSpPr>
        <p:spPr>
          <a:xfrm>
            <a:off x="4784487" y="1828323"/>
            <a:ext cx="8719027" cy="1179297"/>
          </a:xfrm>
          <a:prstGeom prst="rect">
            <a:avLst/>
          </a:prstGeom>
        </p:spPr>
        <p:txBody>
          <a:bodyPr lIns="0" tIns="0" rIns="0" bIns="0" rtlCol="0" anchor="t">
            <a:spAutoFit/>
          </a:bodyPr>
          <a:lstStyle/>
          <a:p>
            <a:pPr algn="ctr">
              <a:lnSpc>
                <a:spcPts val="10296"/>
              </a:lnSpc>
              <a:spcBef>
                <a:spcPct val="0"/>
              </a:spcBef>
            </a:pPr>
            <a:r>
              <a:rPr lang="en-US" sz="7354" dirty="0">
                <a:solidFill>
                  <a:srgbClr val="D7FDFF"/>
                </a:solidFill>
                <a:latin typeface="Alegreya Sans SC"/>
                <a:ea typeface="Alegreya Sans SC"/>
                <a:cs typeface="Alegreya Sans SC"/>
                <a:sym typeface="Alegreya Sans SC"/>
              </a:rPr>
              <a:t>OBJECTIVE</a:t>
            </a:r>
          </a:p>
        </p:txBody>
      </p:sp>
      <p:sp>
        <p:nvSpPr>
          <p:cNvPr id="5" name="Freeform 5">
            <a:extLst>
              <a:ext uri="{C183D7F6-B498-43B3-948B-1728B52AA6E4}">
                <adec:decorative xmlns:adec="http://schemas.microsoft.com/office/drawing/2017/decorative" val="1"/>
              </a:ext>
            </a:extLst>
          </p:cNvPr>
          <p:cNvSpPr/>
          <p:nvPr/>
        </p:nvSpPr>
        <p:spPr>
          <a:xfrm>
            <a:off x="-3320587" y="4685531"/>
            <a:ext cx="6258128" cy="6258128"/>
          </a:xfrm>
          <a:custGeom>
            <a:avLst/>
            <a:gdLst/>
            <a:ahLst/>
            <a:cxnLst/>
            <a:rect l="l" t="t" r="r" b="b"/>
            <a:pathLst>
              <a:path w="6258128" h="6258128">
                <a:moveTo>
                  <a:pt x="0" y="0"/>
                </a:moveTo>
                <a:lnTo>
                  <a:pt x="6258128" y="0"/>
                </a:lnTo>
                <a:lnTo>
                  <a:pt x="6258128" y="6258128"/>
                </a:lnTo>
                <a:lnTo>
                  <a:pt x="0" y="62581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rot="-10800000" flipH="1">
            <a:off x="0" y="-691151"/>
            <a:ext cx="3772662" cy="4956521"/>
          </a:xfrm>
          <a:custGeom>
            <a:avLst/>
            <a:gdLst/>
            <a:ahLst/>
            <a:cxnLst/>
            <a:rect l="l" t="t" r="r" b="b"/>
            <a:pathLst>
              <a:path w="3772662" h="4956521">
                <a:moveTo>
                  <a:pt x="3772662" y="0"/>
                </a:moveTo>
                <a:lnTo>
                  <a:pt x="0" y="0"/>
                </a:lnTo>
                <a:lnTo>
                  <a:pt x="0" y="4956522"/>
                </a:lnTo>
                <a:lnTo>
                  <a:pt x="3772662" y="4956522"/>
                </a:lnTo>
                <a:lnTo>
                  <a:pt x="3772662"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flipH="1">
            <a:off x="15370413" y="-445426"/>
            <a:ext cx="7128693" cy="7128693"/>
          </a:xfrm>
          <a:custGeom>
            <a:avLst/>
            <a:gdLst/>
            <a:ahLst/>
            <a:cxnLst/>
            <a:rect l="l" t="t" r="r" b="b"/>
            <a:pathLst>
              <a:path w="7128693" h="7128693">
                <a:moveTo>
                  <a:pt x="7128693" y="0"/>
                </a:moveTo>
                <a:lnTo>
                  <a:pt x="0" y="0"/>
                </a:lnTo>
                <a:lnTo>
                  <a:pt x="0" y="7128693"/>
                </a:lnTo>
                <a:lnTo>
                  <a:pt x="7128693" y="7128693"/>
                </a:lnTo>
                <a:lnTo>
                  <a:pt x="7128693"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C183D7F6-B498-43B3-948B-1728B52AA6E4}">
                <adec:decorative xmlns:adec="http://schemas.microsoft.com/office/drawing/2017/decorative" val="1"/>
              </a:ext>
            </a:extLst>
          </p:cNvPr>
          <p:cNvSpPr/>
          <p:nvPr/>
        </p:nvSpPr>
        <p:spPr>
          <a:xfrm flipH="1">
            <a:off x="15551448" y="6691720"/>
            <a:ext cx="2736552" cy="3595280"/>
          </a:xfrm>
          <a:custGeom>
            <a:avLst/>
            <a:gdLst/>
            <a:ahLst/>
            <a:cxnLst/>
            <a:rect l="l" t="t" r="r" b="b"/>
            <a:pathLst>
              <a:path w="2736552" h="3595280">
                <a:moveTo>
                  <a:pt x="2736552" y="0"/>
                </a:moveTo>
                <a:lnTo>
                  <a:pt x="0" y="0"/>
                </a:lnTo>
                <a:lnTo>
                  <a:pt x="0" y="3595280"/>
                </a:lnTo>
                <a:lnTo>
                  <a:pt x="2736552" y="3595280"/>
                </a:lnTo>
                <a:lnTo>
                  <a:pt x="2736552"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a:extLst>
              <a:ext uri="{C183D7F6-B498-43B3-948B-1728B52AA6E4}">
                <adec:decorative xmlns:adec="http://schemas.microsoft.com/office/drawing/2017/decorative" val="1"/>
              </a:ext>
            </a:extLst>
          </p:cNvPr>
          <p:cNvSpPr/>
          <p:nvPr/>
        </p:nvSpPr>
        <p:spPr>
          <a:xfrm>
            <a:off x="1511640" y="5600748"/>
            <a:ext cx="316295" cy="316295"/>
          </a:xfrm>
          <a:custGeom>
            <a:avLst/>
            <a:gdLst/>
            <a:ahLst/>
            <a:cxnLst/>
            <a:rect l="l" t="t" r="r" b="b"/>
            <a:pathLst>
              <a:path w="316295" h="316295">
                <a:moveTo>
                  <a:pt x="0" y="0"/>
                </a:moveTo>
                <a:lnTo>
                  <a:pt x="316295" y="0"/>
                </a:lnTo>
                <a:lnTo>
                  <a:pt x="316295" y="316295"/>
                </a:lnTo>
                <a:lnTo>
                  <a:pt x="0" y="3162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1511640" y="3582539"/>
            <a:ext cx="316295" cy="316295"/>
          </a:xfrm>
          <a:custGeom>
            <a:avLst/>
            <a:gdLst/>
            <a:ahLst/>
            <a:cxnLst/>
            <a:rect l="l" t="t" r="r" b="b"/>
            <a:pathLst>
              <a:path w="316295" h="316295">
                <a:moveTo>
                  <a:pt x="0" y="0"/>
                </a:moveTo>
                <a:lnTo>
                  <a:pt x="316295" y="0"/>
                </a:lnTo>
                <a:lnTo>
                  <a:pt x="316295" y="316295"/>
                </a:lnTo>
                <a:lnTo>
                  <a:pt x="0" y="3162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C183D7F6-B498-43B3-948B-1728B52AA6E4}">
                <adec:decorative xmlns:adec="http://schemas.microsoft.com/office/drawing/2017/decorative" val="1"/>
              </a:ext>
            </a:extLst>
          </p:cNvPr>
          <p:cNvSpPr/>
          <p:nvPr/>
        </p:nvSpPr>
        <p:spPr>
          <a:xfrm>
            <a:off x="1511640" y="6683267"/>
            <a:ext cx="316295" cy="316295"/>
          </a:xfrm>
          <a:custGeom>
            <a:avLst/>
            <a:gdLst/>
            <a:ahLst/>
            <a:cxnLst/>
            <a:rect l="l" t="t" r="r" b="b"/>
            <a:pathLst>
              <a:path w="316295" h="316295">
                <a:moveTo>
                  <a:pt x="0" y="0"/>
                </a:moveTo>
                <a:lnTo>
                  <a:pt x="316295" y="0"/>
                </a:lnTo>
                <a:lnTo>
                  <a:pt x="316295" y="316295"/>
                </a:lnTo>
                <a:lnTo>
                  <a:pt x="0" y="3162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2014543" y="3525389"/>
            <a:ext cx="13876999" cy="4064478"/>
          </a:xfrm>
          <a:prstGeom prst="rect">
            <a:avLst/>
          </a:prstGeom>
        </p:spPr>
        <p:txBody>
          <a:bodyPr lIns="0" tIns="0" rIns="0" bIns="0" rtlCol="0" anchor="t">
            <a:spAutoFit/>
          </a:bodyPr>
          <a:lstStyle/>
          <a:p>
            <a:pPr algn="just">
              <a:lnSpc>
                <a:spcPts val="4066"/>
              </a:lnSpc>
            </a:pPr>
            <a:r>
              <a:rPr lang="en-US" sz="2904">
                <a:solidFill>
                  <a:srgbClr val="D7FDFF"/>
                </a:solidFill>
                <a:latin typeface="Fira Sans"/>
                <a:ea typeface="Fira Sans"/>
                <a:cs typeface="Fira Sans"/>
                <a:sym typeface="Fira Sans"/>
              </a:rPr>
              <a:t>Linked Lists</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r>
              <a:rPr lang="en-US" sz="2904">
                <a:solidFill>
                  <a:srgbClr val="D7FDFF"/>
                </a:solidFill>
                <a:latin typeface="Fira Sans"/>
                <a:ea typeface="Fira Sans"/>
                <a:cs typeface="Fira Sans"/>
                <a:sym typeface="Fira Sans"/>
              </a:rPr>
              <a:t>Recursion</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r>
              <a:rPr lang="en-US" sz="2904">
                <a:solidFill>
                  <a:srgbClr val="D7FDFF"/>
                </a:solidFill>
                <a:latin typeface="Fira Sans"/>
                <a:ea typeface="Fira Sans"/>
                <a:cs typeface="Fira Sans"/>
                <a:sym typeface="Fira Sans"/>
              </a:rPr>
              <a:t>Binary Search Trees</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r>
              <a:rPr lang="en-US" sz="2904">
                <a:solidFill>
                  <a:srgbClr val="D7FDFF"/>
                </a:solidFill>
                <a:latin typeface="Fira Sans"/>
                <a:ea typeface="Fira Sans"/>
                <a:cs typeface="Fira Sans"/>
                <a:sym typeface="Fira Sans"/>
              </a:rPr>
              <a:t>Sorting Algorithm</a:t>
            </a:r>
          </a:p>
          <a:p>
            <a:pPr algn="just">
              <a:lnSpc>
                <a:spcPts val="4066"/>
              </a:lnSpc>
              <a:spcBef>
                <a:spcPct val="0"/>
              </a:spcBef>
            </a:pPr>
            <a:endParaRPr lang="en-US" sz="2904">
              <a:solidFill>
                <a:srgbClr val="D7FDFF"/>
              </a:solidFill>
              <a:latin typeface="Fira Sans"/>
              <a:ea typeface="Fira Sans"/>
              <a:cs typeface="Fira Sans"/>
              <a:sym typeface="Fira Sans"/>
            </a:endParaRPr>
          </a:p>
        </p:txBody>
      </p:sp>
      <p:sp>
        <p:nvSpPr>
          <p:cNvPr id="5" name="Freeform 5">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Freeform 9">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TextBox 10"/>
          <p:cNvSpPr txBox="1"/>
          <p:nvPr/>
        </p:nvSpPr>
        <p:spPr>
          <a:xfrm>
            <a:off x="2212717" y="1758517"/>
            <a:ext cx="13862567" cy="1236232"/>
          </a:xfrm>
          <a:prstGeom prst="rect">
            <a:avLst/>
          </a:prstGeom>
        </p:spPr>
        <p:txBody>
          <a:bodyPr lIns="0" tIns="0" rIns="0" bIns="0" rtlCol="0" anchor="t">
            <a:spAutoFit/>
          </a:bodyPr>
          <a:lstStyle/>
          <a:p>
            <a:pPr algn="ctr">
              <a:lnSpc>
                <a:spcPts val="9036"/>
              </a:lnSpc>
              <a:spcBef>
                <a:spcPct val="0"/>
              </a:spcBef>
            </a:pPr>
            <a:r>
              <a:rPr lang="en-US" sz="6454" b="1">
                <a:solidFill>
                  <a:srgbClr val="D7FDFF"/>
                </a:solidFill>
                <a:latin typeface="Alegreya Sans SC Bold"/>
                <a:ea typeface="Alegreya Sans SC Bold"/>
                <a:cs typeface="Alegreya Sans SC Bold"/>
                <a:sym typeface="Alegreya Sans SC Bold"/>
              </a:rPr>
              <a:t>DATA STRUCTURES &amp; ALGORITHMS USED</a:t>
            </a:r>
          </a:p>
        </p:txBody>
      </p:sp>
      <p:sp>
        <p:nvSpPr>
          <p:cNvPr id="11" name="Freeform 11">
            <a:extLst>
              <a:ext uri="{C183D7F6-B498-43B3-948B-1728B52AA6E4}">
                <adec:decorative xmlns:adec="http://schemas.microsoft.com/office/drawing/2017/decorative" val="1"/>
              </a:ext>
            </a:extLst>
          </p:cNvPr>
          <p:cNvSpPr/>
          <p:nvPr/>
        </p:nvSpPr>
        <p:spPr>
          <a:xfrm>
            <a:off x="1511640" y="4766494"/>
            <a:ext cx="316295" cy="316295"/>
          </a:xfrm>
          <a:custGeom>
            <a:avLst/>
            <a:gdLst/>
            <a:ahLst/>
            <a:cxnLst/>
            <a:rect l="l" t="t" r="r" b="b"/>
            <a:pathLst>
              <a:path w="316295" h="316295">
                <a:moveTo>
                  <a:pt x="0" y="0"/>
                </a:moveTo>
                <a:lnTo>
                  <a:pt x="316295" y="0"/>
                </a:lnTo>
                <a:lnTo>
                  <a:pt x="316295" y="316295"/>
                </a:lnTo>
                <a:lnTo>
                  <a:pt x="0" y="3162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a:extLst>
              <a:ext uri="{C183D7F6-B498-43B3-948B-1728B52AA6E4}">
                <adec:decorative xmlns:adec="http://schemas.microsoft.com/office/drawing/2017/decorative" val="1"/>
              </a:ext>
            </a:extLst>
          </p:cNvPr>
          <p:cNvSpPr/>
          <p:nvPr/>
        </p:nvSpPr>
        <p:spPr>
          <a:xfrm>
            <a:off x="1511640" y="5682864"/>
            <a:ext cx="316295" cy="316295"/>
          </a:xfrm>
          <a:custGeom>
            <a:avLst/>
            <a:gdLst/>
            <a:ahLst/>
            <a:cxnLst/>
            <a:rect l="l" t="t" r="r" b="b"/>
            <a:pathLst>
              <a:path w="316295" h="316295">
                <a:moveTo>
                  <a:pt x="0" y="0"/>
                </a:moveTo>
                <a:lnTo>
                  <a:pt x="316295" y="0"/>
                </a:lnTo>
                <a:lnTo>
                  <a:pt x="316295" y="316295"/>
                </a:lnTo>
                <a:lnTo>
                  <a:pt x="0" y="3162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C183D7F6-B498-43B3-948B-1728B52AA6E4}">
                <adec:decorative xmlns:adec="http://schemas.microsoft.com/office/drawing/2017/decorative" val="1"/>
              </a:ext>
            </a:extLst>
          </p:cNvPr>
          <p:cNvSpPr/>
          <p:nvPr/>
        </p:nvSpPr>
        <p:spPr>
          <a:xfrm rot="-10800000" flipH="1" flipV="1">
            <a:off x="1086558" y="6425555"/>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a:extLst>
              <a:ext uri="{C183D7F6-B498-43B3-948B-1728B52AA6E4}">
                <adec:decorative xmlns:adec="http://schemas.microsoft.com/office/drawing/2017/decorative" val="1"/>
              </a:ext>
            </a:extLst>
          </p:cNvPr>
          <p:cNvSpPr/>
          <p:nvPr/>
        </p:nvSpPr>
        <p:spPr>
          <a:xfrm flipH="1" flipV="1">
            <a:off x="239162" y="5259319"/>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C183D7F6-B498-43B3-948B-1728B52AA6E4}">
                <adec:decorative xmlns:adec="http://schemas.microsoft.com/office/drawing/2017/decorative" val="1"/>
              </a:ext>
            </a:extLst>
          </p:cNvPr>
          <p:cNvSpPr/>
          <p:nvPr/>
        </p:nvSpPr>
        <p:spPr>
          <a:xfrm rot="-10800000" flipH="1" flipV="1">
            <a:off x="15390121" y="1822870"/>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flipH="1" flipV="1">
            <a:off x="14542725" y="656634"/>
            <a:ext cx="2182042" cy="2866766"/>
          </a:xfrm>
          <a:custGeom>
            <a:avLst/>
            <a:gdLst/>
            <a:ahLst/>
            <a:cxnLst/>
            <a:rect l="l" t="t" r="r" b="b"/>
            <a:pathLst>
              <a:path w="2182042" h="2866766">
                <a:moveTo>
                  <a:pt x="2182042" y="2866765"/>
                </a:moveTo>
                <a:lnTo>
                  <a:pt x="0" y="2866765"/>
                </a:lnTo>
                <a:lnTo>
                  <a:pt x="0" y="0"/>
                </a:lnTo>
                <a:lnTo>
                  <a:pt x="2182042" y="0"/>
                </a:lnTo>
                <a:lnTo>
                  <a:pt x="2182042" y="2866765"/>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7" name="Freeform 7"/>
          <p:cNvSpPr/>
          <p:nvPr/>
        </p:nvSpPr>
        <p:spPr>
          <a:xfrm>
            <a:off x="10893846" y="3692974"/>
            <a:ext cx="3648880" cy="3719503"/>
          </a:xfrm>
          <a:custGeom>
            <a:avLst/>
            <a:gdLst/>
            <a:ahLst/>
            <a:cxnLst/>
            <a:rect l="l" t="t" r="r" b="b"/>
            <a:pathLst>
              <a:path w="3648880" h="3719503">
                <a:moveTo>
                  <a:pt x="0" y="0"/>
                </a:moveTo>
                <a:lnTo>
                  <a:pt x="3648879" y="0"/>
                </a:lnTo>
                <a:lnTo>
                  <a:pt x="3648879" y="3719503"/>
                </a:lnTo>
                <a:lnTo>
                  <a:pt x="0" y="3719503"/>
                </a:lnTo>
                <a:lnTo>
                  <a:pt x="0" y="0"/>
                </a:lnTo>
                <a:close/>
              </a:path>
            </a:pathLst>
          </a:custGeom>
          <a:blipFill>
            <a:blip r:embed="rId6"/>
            <a:stretch>
              <a:fillRect/>
            </a:stretch>
          </a:blipFill>
        </p:spPr>
        <p:txBody>
          <a:bodyPr/>
          <a:lstStyle/>
          <a:p>
            <a:endParaRPr lang="en-US"/>
          </a:p>
        </p:txBody>
      </p:sp>
      <p:sp>
        <p:nvSpPr>
          <p:cNvPr id="8" name="TextBox 8"/>
          <p:cNvSpPr txBox="1"/>
          <p:nvPr/>
        </p:nvSpPr>
        <p:spPr>
          <a:xfrm>
            <a:off x="2177579" y="2907533"/>
            <a:ext cx="12042401" cy="6430735"/>
          </a:xfrm>
          <a:prstGeom prst="rect">
            <a:avLst/>
          </a:prstGeom>
        </p:spPr>
        <p:txBody>
          <a:bodyPr lIns="0" tIns="0" rIns="0" bIns="0" rtlCol="0" anchor="t">
            <a:spAutoFit/>
          </a:bodyPr>
          <a:lstStyle/>
          <a:p>
            <a:pPr algn="just">
              <a:lnSpc>
                <a:spcPts val="4206"/>
              </a:lnSpc>
            </a:pPr>
            <a:r>
              <a:rPr lang="en-US" sz="3004" dirty="0">
                <a:solidFill>
                  <a:srgbClr val="D7FDFF"/>
                </a:solidFill>
                <a:latin typeface="Fira Sans"/>
                <a:ea typeface="Fira Sans"/>
                <a:cs typeface="Fira Sans"/>
                <a:sym typeface="Fira Sans"/>
              </a:rPr>
              <a:t>The inventory and log system are implemented using singly linked lists. </a:t>
            </a:r>
          </a:p>
          <a:p>
            <a:pPr algn="just">
              <a:lnSpc>
                <a:spcPts val="4206"/>
              </a:lnSpc>
            </a:pPr>
            <a:endParaRPr lang="en-US" sz="3004" dirty="0">
              <a:solidFill>
                <a:srgbClr val="D7FDFF"/>
              </a:solidFill>
              <a:latin typeface="Fira Sans"/>
              <a:ea typeface="Fira Sans"/>
              <a:cs typeface="Fira Sans"/>
              <a:sym typeface="Fira Sans"/>
            </a:endParaRPr>
          </a:p>
          <a:p>
            <a:pPr algn="just">
              <a:lnSpc>
                <a:spcPts val="4206"/>
              </a:lnSpc>
            </a:pPr>
            <a:r>
              <a:rPr lang="en-US" sz="3004" dirty="0">
                <a:solidFill>
                  <a:srgbClr val="D7FDFF"/>
                </a:solidFill>
                <a:latin typeface="Fira Sans"/>
                <a:ea typeface="Fira Sans"/>
                <a:cs typeface="Fira Sans"/>
                <a:sym typeface="Fira Sans"/>
              </a:rPr>
              <a:t>Advantage:</a:t>
            </a:r>
          </a:p>
          <a:p>
            <a:pPr algn="just">
              <a:lnSpc>
                <a:spcPts val="4206"/>
              </a:lnSpc>
            </a:pPr>
            <a:r>
              <a:rPr lang="en-US" sz="3004" dirty="0">
                <a:solidFill>
                  <a:srgbClr val="D7FDFF"/>
                </a:solidFill>
                <a:latin typeface="Fira Sans"/>
                <a:ea typeface="Fira Sans"/>
                <a:cs typeface="Fira Sans"/>
                <a:sym typeface="Fira Sans"/>
              </a:rPr>
              <a:t>Efficient insertion operations </a:t>
            </a:r>
          </a:p>
          <a:p>
            <a:pPr algn="just">
              <a:lnSpc>
                <a:spcPts val="4206"/>
              </a:lnSpc>
            </a:pPr>
            <a:r>
              <a:rPr lang="en-US" sz="3004" dirty="0">
                <a:solidFill>
                  <a:srgbClr val="D7FDFF"/>
                </a:solidFill>
                <a:latin typeface="Fira Sans"/>
                <a:ea typeface="Fira Sans"/>
                <a:cs typeface="Fira Sans"/>
                <a:sym typeface="Fira Sans"/>
              </a:rPr>
              <a:t>No fixed size limitation </a:t>
            </a:r>
          </a:p>
          <a:p>
            <a:pPr algn="just">
              <a:lnSpc>
                <a:spcPts val="4206"/>
              </a:lnSpc>
            </a:pPr>
            <a:endParaRPr lang="en-US" sz="3004" dirty="0">
              <a:solidFill>
                <a:srgbClr val="D7FDFF"/>
              </a:solidFill>
              <a:latin typeface="Fira Sans"/>
              <a:ea typeface="Fira Sans"/>
              <a:cs typeface="Fira Sans"/>
              <a:sym typeface="Fira Sans"/>
            </a:endParaRPr>
          </a:p>
          <a:p>
            <a:pPr algn="just">
              <a:lnSpc>
                <a:spcPts val="4206"/>
              </a:lnSpc>
            </a:pPr>
            <a:r>
              <a:rPr lang="en-US" sz="3004" dirty="0">
                <a:solidFill>
                  <a:srgbClr val="D7FDFF"/>
                </a:solidFill>
                <a:latin typeface="Fira Sans"/>
                <a:ea typeface="Fira Sans"/>
                <a:cs typeface="Fira Sans"/>
                <a:sym typeface="Fira Sans"/>
              </a:rPr>
              <a:t>A bubble-sort-like approach is used to</a:t>
            </a:r>
          </a:p>
          <a:p>
            <a:pPr algn="just">
              <a:lnSpc>
                <a:spcPts val="4206"/>
              </a:lnSpc>
            </a:pPr>
            <a:r>
              <a:rPr lang="en-US" sz="3004" dirty="0">
                <a:solidFill>
                  <a:srgbClr val="D7FDFF"/>
                </a:solidFill>
                <a:latin typeface="Fira Sans"/>
                <a:ea typeface="Fira Sans"/>
                <a:cs typeface="Fira Sans"/>
                <a:sym typeface="Fira Sans"/>
              </a:rPr>
              <a:t> sort linked list elements by:</a:t>
            </a:r>
          </a:p>
          <a:p>
            <a:pPr algn="just">
              <a:lnSpc>
                <a:spcPts val="4206"/>
              </a:lnSpc>
            </a:pPr>
            <a:r>
              <a:rPr lang="en-US" sz="3004" dirty="0">
                <a:solidFill>
                  <a:srgbClr val="D7FDFF"/>
                </a:solidFill>
                <a:latin typeface="Fira Sans"/>
                <a:ea typeface="Fira Sans"/>
                <a:cs typeface="Fira Sans"/>
                <a:sym typeface="Fira Sans"/>
              </a:rPr>
              <a:t>Item name</a:t>
            </a:r>
          </a:p>
          <a:p>
            <a:pPr algn="just">
              <a:lnSpc>
                <a:spcPts val="4206"/>
              </a:lnSpc>
              <a:spcBef>
                <a:spcPct val="0"/>
              </a:spcBef>
            </a:pPr>
            <a:r>
              <a:rPr lang="en-US" sz="3004" dirty="0">
                <a:solidFill>
                  <a:srgbClr val="D7FDFF"/>
                </a:solidFill>
                <a:latin typeface="Fira Sans"/>
                <a:ea typeface="Fira Sans"/>
                <a:cs typeface="Fira Sans"/>
                <a:sym typeface="Fira Sans"/>
              </a:rPr>
              <a:t>Item type </a:t>
            </a:r>
          </a:p>
          <a:p>
            <a:pPr algn="just">
              <a:lnSpc>
                <a:spcPts val="4206"/>
              </a:lnSpc>
              <a:spcBef>
                <a:spcPct val="0"/>
              </a:spcBef>
            </a:pPr>
            <a:r>
              <a:rPr lang="en-US" sz="3004" dirty="0">
                <a:solidFill>
                  <a:srgbClr val="D7FDFF"/>
                </a:solidFill>
                <a:latin typeface="Fira Sans"/>
                <a:ea typeface="Fira Sans"/>
                <a:cs typeface="Fira Sans"/>
                <a:sym typeface="Fira Sans"/>
              </a:rPr>
              <a:t>Item ID</a:t>
            </a:r>
          </a:p>
        </p:txBody>
      </p:sp>
      <p:sp>
        <p:nvSpPr>
          <p:cNvPr id="9" name="Freeform 9"/>
          <p:cNvSpPr/>
          <p:nvPr/>
        </p:nvSpPr>
        <p:spPr>
          <a:xfrm>
            <a:off x="10893846" y="7450881"/>
            <a:ext cx="3558249" cy="816112"/>
          </a:xfrm>
          <a:custGeom>
            <a:avLst/>
            <a:gdLst/>
            <a:ahLst/>
            <a:cxnLst/>
            <a:rect l="l" t="t" r="r" b="b"/>
            <a:pathLst>
              <a:path w="3558249" h="816112">
                <a:moveTo>
                  <a:pt x="0" y="0"/>
                </a:moveTo>
                <a:lnTo>
                  <a:pt x="3558249" y="0"/>
                </a:lnTo>
                <a:lnTo>
                  <a:pt x="3558249" y="816112"/>
                </a:lnTo>
                <a:lnTo>
                  <a:pt x="0" y="816112"/>
                </a:lnTo>
                <a:lnTo>
                  <a:pt x="0" y="0"/>
                </a:lnTo>
                <a:close/>
              </a:path>
            </a:pathLst>
          </a:custGeom>
          <a:blipFill>
            <a:blip r:embed="rId7"/>
            <a:stretch>
              <a:fillRect/>
            </a:stretch>
          </a:blipFill>
        </p:spPr>
        <p:txBody>
          <a:bodyPr/>
          <a:lstStyle/>
          <a:p>
            <a:endParaRPr lang="en-US"/>
          </a:p>
        </p:txBody>
      </p:sp>
      <p:sp>
        <p:nvSpPr>
          <p:cNvPr id="10" name="TextBox 10"/>
          <p:cNvSpPr txBox="1"/>
          <p:nvPr/>
        </p:nvSpPr>
        <p:spPr>
          <a:xfrm>
            <a:off x="4354917" y="1575220"/>
            <a:ext cx="10187809" cy="1210197"/>
          </a:xfrm>
          <a:prstGeom prst="rect">
            <a:avLst/>
          </a:prstGeom>
        </p:spPr>
        <p:txBody>
          <a:bodyPr lIns="0" tIns="0" rIns="0" bIns="0" rtlCol="0" anchor="t">
            <a:spAutoFit/>
          </a:bodyPr>
          <a:lstStyle/>
          <a:p>
            <a:pPr algn="ctr">
              <a:lnSpc>
                <a:spcPts val="8896"/>
              </a:lnSpc>
              <a:spcBef>
                <a:spcPct val="0"/>
              </a:spcBef>
            </a:pPr>
            <a:r>
              <a:rPr lang="en-US" sz="6354" b="1">
                <a:solidFill>
                  <a:srgbClr val="D7FDFF"/>
                </a:solidFill>
                <a:latin typeface="Alegreya Sans SC Bold"/>
                <a:ea typeface="Alegreya Sans SC Bold"/>
                <a:cs typeface="Alegreya Sans SC Bold"/>
                <a:sym typeface="Alegreya Sans SC Bold"/>
              </a:rPr>
              <a:t>LINKED LISTS &amp; ALGORITHMS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739935" y="3462269"/>
            <a:ext cx="12808130" cy="3508375"/>
          </a:xfrm>
          <a:prstGeom prst="rect">
            <a:avLst/>
          </a:prstGeom>
        </p:spPr>
        <p:txBody>
          <a:bodyPr lIns="0" tIns="0" rIns="0" bIns="0" rtlCol="0" anchor="t">
            <a:spAutoFit/>
          </a:bodyPr>
          <a:lstStyle/>
          <a:p>
            <a:pPr algn="ctr">
              <a:lnSpc>
                <a:spcPts val="5600"/>
              </a:lnSpc>
            </a:pPr>
            <a:r>
              <a:rPr lang="en-US" sz="4000" dirty="0">
                <a:solidFill>
                  <a:srgbClr val="D7FDFF"/>
                </a:solidFill>
                <a:latin typeface="Fira Sans"/>
                <a:ea typeface="Fira Sans"/>
                <a:cs typeface="Fira Sans"/>
                <a:sym typeface="Fira Sans"/>
              </a:rPr>
              <a:t>Searching items in the inventory.</a:t>
            </a:r>
          </a:p>
          <a:p>
            <a:pPr algn="ctr">
              <a:lnSpc>
                <a:spcPts val="5600"/>
              </a:lnSpc>
            </a:pPr>
            <a:r>
              <a:rPr lang="en-US" sz="4000" dirty="0">
                <a:solidFill>
                  <a:srgbClr val="D7FDFF"/>
                </a:solidFill>
                <a:latin typeface="Fira Sans"/>
                <a:ea typeface="Fira Sans"/>
                <a:cs typeface="Fira Sans"/>
                <a:sym typeface="Fira Sans"/>
              </a:rPr>
              <a:t>The BST is used to store item IDs and display them in sorted order. </a:t>
            </a:r>
          </a:p>
          <a:p>
            <a:pPr algn="ctr">
              <a:lnSpc>
                <a:spcPts val="5600"/>
              </a:lnSpc>
              <a:spcBef>
                <a:spcPct val="0"/>
              </a:spcBef>
            </a:pPr>
            <a:r>
              <a:rPr lang="en-US" sz="4000" dirty="0">
                <a:solidFill>
                  <a:srgbClr val="D7FDFF"/>
                </a:solidFill>
                <a:latin typeface="Fira Sans"/>
                <a:ea typeface="Fira Sans"/>
                <a:cs typeface="Fira Sans"/>
                <a:sym typeface="Fira Sans"/>
              </a:rPr>
              <a:t>Faster searching compared to linear structures (average case).</a:t>
            </a:r>
          </a:p>
        </p:txBody>
      </p:sp>
      <p:sp>
        <p:nvSpPr>
          <p:cNvPr id="4" name="Freeform 4">
            <a:extLst>
              <a:ext uri="{C183D7F6-B498-43B3-948B-1728B52AA6E4}">
                <adec:decorative xmlns:adec="http://schemas.microsoft.com/office/drawing/2017/decorative" val="1"/>
              </a:ext>
            </a:extLst>
          </p:cNvPr>
          <p:cNvSpPr/>
          <p:nvPr/>
        </p:nvSpPr>
        <p:spPr>
          <a:xfrm flipV="1">
            <a:off x="15548065" y="6970644"/>
            <a:ext cx="2300142" cy="3021926"/>
          </a:xfrm>
          <a:custGeom>
            <a:avLst/>
            <a:gdLst/>
            <a:ahLst/>
            <a:cxnLst/>
            <a:rect l="l" t="t" r="r" b="b"/>
            <a:pathLst>
              <a:path w="2300142" h="3021926">
                <a:moveTo>
                  <a:pt x="0" y="3021926"/>
                </a:moveTo>
                <a:lnTo>
                  <a:pt x="2300142" y="3021926"/>
                </a:lnTo>
                <a:lnTo>
                  <a:pt x="2300142" y="0"/>
                </a:lnTo>
                <a:lnTo>
                  <a:pt x="0" y="0"/>
                </a:lnTo>
                <a:lnTo>
                  <a:pt x="0" y="3021926"/>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C183D7F6-B498-43B3-948B-1728B52AA6E4}">
                <adec:decorative xmlns:adec="http://schemas.microsoft.com/office/drawing/2017/decorative" val="1"/>
              </a:ext>
            </a:extLst>
          </p:cNvPr>
          <p:cNvSpPr/>
          <p:nvPr/>
        </p:nvSpPr>
        <p:spPr>
          <a:xfrm rot="-10800000" flipV="1">
            <a:off x="15372969" y="5781025"/>
            <a:ext cx="3772662" cy="4956521"/>
          </a:xfrm>
          <a:custGeom>
            <a:avLst/>
            <a:gdLst/>
            <a:ahLst/>
            <a:cxnLst/>
            <a:rect l="l" t="t" r="r" b="b"/>
            <a:pathLst>
              <a:path w="3772662" h="4956521">
                <a:moveTo>
                  <a:pt x="0" y="4956522"/>
                </a:moveTo>
                <a:lnTo>
                  <a:pt x="3772662" y="4956522"/>
                </a:lnTo>
                <a:lnTo>
                  <a:pt x="3772662" y="0"/>
                </a:lnTo>
                <a:lnTo>
                  <a:pt x="0" y="0"/>
                </a:lnTo>
                <a:lnTo>
                  <a:pt x="0" y="4956522"/>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a:off x="-3209211" y="1721233"/>
            <a:ext cx="6538053" cy="6538053"/>
          </a:xfrm>
          <a:custGeom>
            <a:avLst/>
            <a:gdLst/>
            <a:ahLst/>
            <a:cxnLst/>
            <a:rect l="l" t="t" r="r" b="b"/>
            <a:pathLst>
              <a:path w="6538053" h="6538053">
                <a:moveTo>
                  <a:pt x="0" y="0"/>
                </a:moveTo>
                <a:lnTo>
                  <a:pt x="6538053" y="0"/>
                </a:lnTo>
                <a:lnTo>
                  <a:pt x="6538053" y="6538053"/>
                </a:lnTo>
                <a:lnTo>
                  <a:pt x="0" y="65380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flipH="1">
            <a:off x="1028700" y="210270"/>
            <a:ext cx="2300142" cy="3021926"/>
          </a:xfrm>
          <a:custGeom>
            <a:avLst/>
            <a:gdLst/>
            <a:ahLst/>
            <a:cxnLst/>
            <a:rect l="l" t="t" r="r" b="b"/>
            <a:pathLst>
              <a:path w="2300142" h="3021926">
                <a:moveTo>
                  <a:pt x="2300142" y="0"/>
                </a:moveTo>
                <a:lnTo>
                  <a:pt x="0" y="0"/>
                </a:lnTo>
                <a:lnTo>
                  <a:pt x="0" y="3021926"/>
                </a:lnTo>
                <a:lnTo>
                  <a:pt x="2300142" y="3021926"/>
                </a:lnTo>
                <a:lnTo>
                  <a:pt x="230014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Freeform 8">
            <a:extLst>
              <a:ext uri="{C183D7F6-B498-43B3-948B-1728B52AA6E4}">
                <adec:decorative xmlns:adec="http://schemas.microsoft.com/office/drawing/2017/decorative" val="1"/>
              </a:ext>
            </a:extLst>
          </p:cNvPr>
          <p:cNvSpPr/>
          <p:nvPr/>
        </p:nvSpPr>
        <p:spPr>
          <a:xfrm rot="-10800000" flipH="1">
            <a:off x="-857631" y="-364188"/>
            <a:ext cx="3772662" cy="4956521"/>
          </a:xfrm>
          <a:custGeom>
            <a:avLst/>
            <a:gdLst/>
            <a:ahLst/>
            <a:cxnLst/>
            <a:rect l="l" t="t" r="r" b="b"/>
            <a:pathLst>
              <a:path w="3772662" h="4956521">
                <a:moveTo>
                  <a:pt x="3772662" y="0"/>
                </a:moveTo>
                <a:lnTo>
                  <a:pt x="0" y="0"/>
                </a:lnTo>
                <a:lnTo>
                  <a:pt x="0" y="4956522"/>
                </a:lnTo>
                <a:lnTo>
                  <a:pt x="3772662" y="4956522"/>
                </a:lnTo>
                <a:lnTo>
                  <a:pt x="377266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a:extLst>
              <a:ext uri="{C183D7F6-B498-43B3-948B-1728B52AA6E4}">
                <adec:decorative xmlns:adec="http://schemas.microsoft.com/office/drawing/2017/decorative" val="1"/>
              </a:ext>
            </a:extLst>
          </p:cNvPr>
          <p:cNvSpPr/>
          <p:nvPr/>
        </p:nvSpPr>
        <p:spPr>
          <a:xfrm>
            <a:off x="14960838" y="2114073"/>
            <a:ext cx="6538053" cy="6538053"/>
          </a:xfrm>
          <a:custGeom>
            <a:avLst/>
            <a:gdLst/>
            <a:ahLst/>
            <a:cxnLst/>
            <a:rect l="l" t="t" r="r" b="b"/>
            <a:pathLst>
              <a:path w="6538053" h="6538053">
                <a:moveTo>
                  <a:pt x="0" y="0"/>
                </a:moveTo>
                <a:lnTo>
                  <a:pt x="6538054" y="0"/>
                </a:lnTo>
                <a:lnTo>
                  <a:pt x="6538054" y="6538053"/>
                </a:lnTo>
                <a:lnTo>
                  <a:pt x="0" y="65380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Freeform 10"/>
          <p:cNvSpPr/>
          <p:nvPr/>
        </p:nvSpPr>
        <p:spPr>
          <a:xfrm>
            <a:off x="2739935" y="7282821"/>
            <a:ext cx="5577689" cy="976465"/>
          </a:xfrm>
          <a:custGeom>
            <a:avLst/>
            <a:gdLst/>
            <a:ahLst/>
            <a:cxnLst/>
            <a:rect l="l" t="t" r="r" b="b"/>
            <a:pathLst>
              <a:path w="5577689" h="976465">
                <a:moveTo>
                  <a:pt x="0" y="0"/>
                </a:moveTo>
                <a:lnTo>
                  <a:pt x="5577689" y="0"/>
                </a:lnTo>
                <a:lnTo>
                  <a:pt x="5577689" y="976465"/>
                </a:lnTo>
                <a:lnTo>
                  <a:pt x="0" y="976465"/>
                </a:lnTo>
                <a:lnTo>
                  <a:pt x="0" y="0"/>
                </a:lnTo>
                <a:close/>
              </a:path>
            </a:pathLst>
          </a:custGeom>
          <a:blipFill>
            <a:blip r:embed="rId8"/>
            <a:stretch>
              <a:fillRect/>
            </a:stretch>
          </a:blipFill>
        </p:spPr>
        <p:txBody>
          <a:bodyPr/>
          <a:lstStyle/>
          <a:p>
            <a:endParaRPr lang="en-US"/>
          </a:p>
        </p:txBody>
      </p:sp>
      <p:sp>
        <p:nvSpPr>
          <p:cNvPr id="11" name="Freeform 11"/>
          <p:cNvSpPr/>
          <p:nvPr/>
        </p:nvSpPr>
        <p:spPr>
          <a:xfrm>
            <a:off x="8317624" y="7444264"/>
            <a:ext cx="6643214" cy="653578"/>
          </a:xfrm>
          <a:custGeom>
            <a:avLst/>
            <a:gdLst/>
            <a:ahLst/>
            <a:cxnLst/>
            <a:rect l="l" t="t" r="r" b="b"/>
            <a:pathLst>
              <a:path w="6643214" h="653578">
                <a:moveTo>
                  <a:pt x="0" y="0"/>
                </a:moveTo>
                <a:lnTo>
                  <a:pt x="6643214" y="0"/>
                </a:lnTo>
                <a:lnTo>
                  <a:pt x="6643214" y="653578"/>
                </a:lnTo>
                <a:lnTo>
                  <a:pt x="0" y="653578"/>
                </a:lnTo>
                <a:lnTo>
                  <a:pt x="0" y="0"/>
                </a:lnTo>
                <a:close/>
              </a:path>
            </a:pathLst>
          </a:custGeom>
          <a:blipFill>
            <a:blip r:embed="rId9"/>
            <a:stretch>
              <a:fillRect/>
            </a:stretch>
          </a:blipFill>
        </p:spPr>
        <p:txBody>
          <a:bodyPr/>
          <a:lstStyle/>
          <a:p>
            <a:endParaRPr lang="en-US"/>
          </a:p>
        </p:txBody>
      </p:sp>
      <p:sp>
        <p:nvSpPr>
          <p:cNvPr id="12" name="TextBox 12"/>
          <p:cNvSpPr txBox="1"/>
          <p:nvPr/>
        </p:nvSpPr>
        <p:spPr>
          <a:xfrm>
            <a:off x="4784487" y="1828323"/>
            <a:ext cx="8719027" cy="1403873"/>
          </a:xfrm>
          <a:prstGeom prst="rect">
            <a:avLst/>
          </a:prstGeom>
        </p:spPr>
        <p:txBody>
          <a:bodyPr lIns="0" tIns="0" rIns="0" bIns="0" rtlCol="0" anchor="t">
            <a:spAutoFit/>
          </a:bodyPr>
          <a:lstStyle/>
          <a:p>
            <a:pPr algn="ctr">
              <a:lnSpc>
                <a:spcPts val="10296"/>
              </a:lnSpc>
              <a:spcBef>
                <a:spcPct val="0"/>
              </a:spcBef>
            </a:pPr>
            <a:r>
              <a:rPr lang="en-US" sz="7354" b="1">
                <a:solidFill>
                  <a:srgbClr val="D7FDFF"/>
                </a:solidFill>
                <a:latin typeface="Alegreya Sans SC Bold"/>
                <a:ea typeface="Alegreya Sans SC Bold"/>
                <a:cs typeface="Alegreya Sans SC Bold"/>
                <a:sym typeface="Alegreya Sans SC Bold"/>
              </a:rPr>
              <a:t>RECURSION &amp; BST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226844" y="3525389"/>
            <a:ext cx="13876999" cy="4574617"/>
          </a:xfrm>
          <a:prstGeom prst="rect">
            <a:avLst/>
          </a:prstGeom>
        </p:spPr>
        <p:txBody>
          <a:bodyPr lIns="0" tIns="0" rIns="0" bIns="0" rtlCol="0" anchor="t">
            <a:spAutoFit/>
          </a:bodyPr>
          <a:lstStyle/>
          <a:p>
            <a:pPr algn="just">
              <a:lnSpc>
                <a:spcPts val="4066"/>
              </a:lnSpc>
            </a:pPr>
            <a:r>
              <a:rPr lang="en-US" sz="2904">
                <a:solidFill>
                  <a:srgbClr val="D7FDFF"/>
                </a:solidFill>
                <a:latin typeface="Fira Sans"/>
                <a:ea typeface="Fira Sans"/>
                <a:cs typeface="Fira Sans"/>
                <a:sym typeface="Fira Sans"/>
              </a:rPr>
              <a:t> Menu-Driven Design </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r>
              <a:rPr lang="en-US" sz="2904">
                <a:solidFill>
                  <a:srgbClr val="D7FDFF"/>
                </a:solidFill>
                <a:latin typeface="Fira Sans"/>
                <a:ea typeface="Fira Sans"/>
                <a:cs typeface="Fira Sans"/>
                <a:sym typeface="Fira Sans"/>
              </a:rPr>
              <a:t>Displays categorized inventory </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r>
              <a:rPr lang="en-US" sz="2904">
                <a:solidFill>
                  <a:srgbClr val="D7FDFF"/>
                </a:solidFill>
                <a:latin typeface="Fira Sans"/>
                <a:ea typeface="Fira Sans"/>
                <a:cs typeface="Fira Sans"/>
                <a:sym typeface="Fira Sans"/>
              </a:rPr>
              <a:t>Sorts items correctly </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pPr>
            <a:r>
              <a:rPr lang="en-US" sz="2904">
                <a:solidFill>
                  <a:srgbClr val="D7FDFF"/>
                </a:solidFill>
                <a:latin typeface="Fira Sans"/>
                <a:ea typeface="Fira Sans"/>
                <a:cs typeface="Fira Sans"/>
                <a:sym typeface="Fira Sans"/>
              </a:rPr>
              <a:t>Displays sorted item IDs using BST inorder traversal</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spcBef>
                <a:spcPct val="0"/>
              </a:spcBef>
            </a:pPr>
            <a:r>
              <a:rPr lang="en-US" sz="2904">
                <a:solidFill>
                  <a:srgbClr val="D7FDFF"/>
                </a:solidFill>
                <a:latin typeface="Fira Sans"/>
                <a:ea typeface="Fira Sans"/>
                <a:cs typeface="Fira Sans"/>
                <a:sym typeface="Fira Sans"/>
              </a:rPr>
              <a:t>Generates a detailed session activity report upon exit </a:t>
            </a:r>
          </a:p>
        </p:txBody>
      </p:sp>
      <p:sp>
        <p:nvSpPr>
          <p:cNvPr id="4" name="Freeform 4">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9705780" y="3274638"/>
            <a:ext cx="3274307" cy="2708745"/>
          </a:xfrm>
          <a:custGeom>
            <a:avLst/>
            <a:gdLst/>
            <a:ahLst/>
            <a:cxnLst/>
            <a:rect l="l" t="t" r="r" b="b"/>
            <a:pathLst>
              <a:path w="3274307" h="2708745">
                <a:moveTo>
                  <a:pt x="0" y="0"/>
                </a:moveTo>
                <a:lnTo>
                  <a:pt x="3274307" y="0"/>
                </a:lnTo>
                <a:lnTo>
                  <a:pt x="3274307" y="2708745"/>
                </a:lnTo>
                <a:lnTo>
                  <a:pt x="0" y="2708745"/>
                </a:lnTo>
                <a:lnTo>
                  <a:pt x="0" y="0"/>
                </a:lnTo>
                <a:close/>
              </a:path>
            </a:pathLst>
          </a:custGeom>
          <a:blipFill>
            <a:blip r:embed="rId6"/>
            <a:stretch>
              <a:fillRect/>
            </a:stretch>
          </a:blipFill>
        </p:spPr>
        <p:txBody>
          <a:bodyPr/>
          <a:lstStyle/>
          <a:p>
            <a:endParaRPr lang="en-US"/>
          </a:p>
        </p:txBody>
      </p:sp>
      <p:sp>
        <p:nvSpPr>
          <p:cNvPr id="9" name="Freeform 9"/>
          <p:cNvSpPr/>
          <p:nvPr/>
        </p:nvSpPr>
        <p:spPr>
          <a:xfrm>
            <a:off x="13524857" y="2574753"/>
            <a:ext cx="3661728" cy="4494894"/>
          </a:xfrm>
          <a:custGeom>
            <a:avLst/>
            <a:gdLst/>
            <a:ahLst/>
            <a:cxnLst/>
            <a:rect l="l" t="t" r="r" b="b"/>
            <a:pathLst>
              <a:path w="3661728" h="4494894">
                <a:moveTo>
                  <a:pt x="0" y="0"/>
                </a:moveTo>
                <a:lnTo>
                  <a:pt x="3661728" y="0"/>
                </a:lnTo>
                <a:lnTo>
                  <a:pt x="3661728" y="4494894"/>
                </a:lnTo>
                <a:lnTo>
                  <a:pt x="0" y="4494894"/>
                </a:lnTo>
                <a:lnTo>
                  <a:pt x="0" y="0"/>
                </a:lnTo>
                <a:close/>
              </a:path>
            </a:pathLst>
          </a:custGeom>
          <a:blipFill>
            <a:blip r:embed="rId7"/>
            <a:stretch>
              <a:fillRect/>
            </a:stretch>
          </a:blipFill>
        </p:spPr>
        <p:txBody>
          <a:bodyPr/>
          <a:lstStyle/>
          <a:p>
            <a:endParaRPr lang="en-US"/>
          </a:p>
        </p:txBody>
      </p:sp>
      <p:sp>
        <p:nvSpPr>
          <p:cNvPr id="10" name="Freeform 10"/>
          <p:cNvSpPr/>
          <p:nvPr/>
        </p:nvSpPr>
        <p:spPr>
          <a:xfrm>
            <a:off x="11466993" y="5983383"/>
            <a:ext cx="1972321" cy="2902721"/>
          </a:xfrm>
          <a:custGeom>
            <a:avLst/>
            <a:gdLst/>
            <a:ahLst/>
            <a:cxnLst/>
            <a:rect l="l" t="t" r="r" b="b"/>
            <a:pathLst>
              <a:path w="1972321" h="2902721">
                <a:moveTo>
                  <a:pt x="0" y="0"/>
                </a:moveTo>
                <a:lnTo>
                  <a:pt x="1972321" y="0"/>
                </a:lnTo>
                <a:lnTo>
                  <a:pt x="1972321" y="2902721"/>
                </a:lnTo>
                <a:lnTo>
                  <a:pt x="0" y="2902721"/>
                </a:lnTo>
                <a:lnTo>
                  <a:pt x="0" y="0"/>
                </a:lnTo>
                <a:close/>
              </a:path>
            </a:pathLst>
          </a:custGeom>
          <a:blipFill>
            <a:blip r:embed="rId8"/>
            <a:stretch>
              <a:fillRect t="-1283" b="-1283"/>
            </a:stretch>
          </a:blipFill>
        </p:spPr>
        <p:txBody>
          <a:bodyPr/>
          <a:lstStyle/>
          <a:p>
            <a:endParaRPr lang="en-US"/>
          </a:p>
        </p:txBody>
      </p:sp>
      <p:sp>
        <p:nvSpPr>
          <p:cNvPr id="11" name="TextBox 11"/>
          <p:cNvSpPr txBox="1"/>
          <p:nvPr/>
        </p:nvSpPr>
        <p:spPr>
          <a:xfrm>
            <a:off x="4805830" y="1170880"/>
            <a:ext cx="8719027" cy="1403873"/>
          </a:xfrm>
          <a:prstGeom prst="rect">
            <a:avLst/>
          </a:prstGeom>
        </p:spPr>
        <p:txBody>
          <a:bodyPr lIns="0" tIns="0" rIns="0" bIns="0" rtlCol="0" anchor="t">
            <a:spAutoFit/>
          </a:bodyPr>
          <a:lstStyle/>
          <a:p>
            <a:pPr algn="ctr">
              <a:lnSpc>
                <a:spcPts val="10296"/>
              </a:lnSpc>
              <a:spcBef>
                <a:spcPct val="0"/>
              </a:spcBef>
            </a:pPr>
            <a:r>
              <a:rPr lang="en-US" sz="7354" b="1">
                <a:solidFill>
                  <a:srgbClr val="D7FDFF"/>
                </a:solidFill>
                <a:latin typeface="Alegreya Sans SC Bold"/>
                <a:ea typeface="Alegreya Sans SC Bold"/>
                <a:cs typeface="Alegreya Sans SC Bold"/>
                <a:sym typeface="Alegreya Sans SC Bold"/>
              </a:rPr>
              <a:t>OUTPUT RESULTS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rot="-10800000" flipH="1">
            <a:off x="-767315" y="-135036"/>
            <a:ext cx="3274057" cy="4301455"/>
          </a:xfrm>
          <a:custGeom>
            <a:avLst/>
            <a:gdLst/>
            <a:ahLst/>
            <a:cxnLst/>
            <a:rect l="l" t="t" r="r" b="b"/>
            <a:pathLst>
              <a:path w="3274057" h="4301455">
                <a:moveTo>
                  <a:pt x="3274057" y="0"/>
                </a:moveTo>
                <a:lnTo>
                  <a:pt x="0" y="0"/>
                </a:lnTo>
                <a:lnTo>
                  <a:pt x="0" y="4301455"/>
                </a:lnTo>
                <a:lnTo>
                  <a:pt x="3274057" y="4301455"/>
                </a:lnTo>
                <a:lnTo>
                  <a:pt x="327405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TextBox 3"/>
          <p:cNvSpPr txBox="1"/>
          <p:nvPr/>
        </p:nvSpPr>
        <p:spPr>
          <a:xfrm>
            <a:off x="2205501" y="3917195"/>
            <a:ext cx="13876999" cy="3554339"/>
          </a:xfrm>
          <a:prstGeom prst="rect">
            <a:avLst/>
          </a:prstGeom>
        </p:spPr>
        <p:txBody>
          <a:bodyPr lIns="0" tIns="0" rIns="0" bIns="0" rtlCol="0" anchor="t">
            <a:spAutoFit/>
          </a:bodyPr>
          <a:lstStyle/>
          <a:p>
            <a:pPr algn="just">
              <a:lnSpc>
                <a:spcPts val="4066"/>
              </a:lnSpc>
            </a:pPr>
            <a:r>
              <a:rPr lang="en-US" sz="2904">
                <a:solidFill>
                  <a:srgbClr val="D7FDFF"/>
                </a:solidFill>
                <a:latin typeface="Fira Sans"/>
                <a:ea typeface="Fira Sans"/>
                <a:cs typeface="Fira Sans"/>
                <a:sym typeface="Fira Sans"/>
              </a:rPr>
              <a:t>This project successfully demonstrates the use of Data Structures such as Linked Lists, Recursion, Sorting Algorithms, and Binary Search Trees in building an efficient inventory management system. The implementation improved understanding of how DSA concepts are applied in real-world applications</a:t>
            </a:r>
          </a:p>
          <a:p>
            <a:pPr algn="just">
              <a:lnSpc>
                <a:spcPts val="4066"/>
              </a:lnSpc>
            </a:pPr>
            <a:endParaRPr lang="en-US" sz="2904">
              <a:solidFill>
                <a:srgbClr val="D7FDFF"/>
              </a:solidFill>
              <a:latin typeface="Fira Sans"/>
              <a:ea typeface="Fira Sans"/>
              <a:cs typeface="Fira Sans"/>
              <a:sym typeface="Fira Sans"/>
            </a:endParaRPr>
          </a:p>
          <a:p>
            <a:pPr algn="just">
              <a:lnSpc>
                <a:spcPts val="4066"/>
              </a:lnSpc>
              <a:spcBef>
                <a:spcPct val="0"/>
              </a:spcBef>
            </a:pPr>
            <a:r>
              <a:rPr lang="en-US" sz="2904">
                <a:solidFill>
                  <a:srgbClr val="D7FDFF"/>
                </a:solidFill>
                <a:latin typeface="Fira Sans"/>
                <a:ea typeface="Fira Sans"/>
                <a:cs typeface="Fira Sans"/>
                <a:sym typeface="Fira Sans"/>
              </a:rPr>
              <a:t>The project highlights the importance of data organization, efficient searching, and structured programming in software development.</a:t>
            </a:r>
          </a:p>
        </p:txBody>
      </p:sp>
      <p:sp>
        <p:nvSpPr>
          <p:cNvPr id="4" name="TextBox 4"/>
          <p:cNvSpPr txBox="1"/>
          <p:nvPr/>
        </p:nvSpPr>
        <p:spPr>
          <a:xfrm>
            <a:off x="4784487" y="2141229"/>
            <a:ext cx="8719027" cy="1403873"/>
          </a:xfrm>
          <a:prstGeom prst="rect">
            <a:avLst/>
          </a:prstGeom>
        </p:spPr>
        <p:txBody>
          <a:bodyPr lIns="0" tIns="0" rIns="0" bIns="0" rtlCol="0" anchor="t">
            <a:spAutoFit/>
          </a:bodyPr>
          <a:lstStyle/>
          <a:p>
            <a:pPr algn="ctr">
              <a:lnSpc>
                <a:spcPts val="10296"/>
              </a:lnSpc>
              <a:spcBef>
                <a:spcPct val="0"/>
              </a:spcBef>
            </a:pPr>
            <a:r>
              <a:rPr lang="en-US" sz="7354" b="1">
                <a:solidFill>
                  <a:srgbClr val="D7FDFF"/>
                </a:solidFill>
                <a:latin typeface="Alegreya Sans SC Bold"/>
                <a:ea typeface="Alegreya Sans SC Bold"/>
                <a:cs typeface="Alegreya Sans SC Bold"/>
                <a:sym typeface="Alegreya Sans SC Bold"/>
              </a:rPr>
              <a:t>Conclusion </a:t>
            </a:r>
          </a:p>
        </p:txBody>
      </p:sp>
      <p:sp>
        <p:nvSpPr>
          <p:cNvPr id="5" name="Freeform 5">
            <a:extLst>
              <a:ext uri="{C183D7F6-B498-43B3-948B-1728B52AA6E4}">
                <adec:decorative xmlns:adec="http://schemas.microsoft.com/office/drawing/2017/decorative" val="1"/>
              </a:ext>
            </a:extLst>
          </p:cNvPr>
          <p:cNvSpPr/>
          <p:nvPr/>
        </p:nvSpPr>
        <p:spPr>
          <a:xfrm>
            <a:off x="0" y="6683267"/>
            <a:ext cx="18288000" cy="4164037"/>
          </a:xfrm>
          <a:custGeom>
            <a:avLst/>
            <a:gdLst/>
            <a:ahLst/>
            <a:cxnLst/>
            <a:rect l="l" t="t" r="r" b="b"/>
            <a:pathLst>
              <a:path w="18288000" h="4164037">
                <a:moveTo>
                  <a:pt x="0" y="0"/>
                </a:moveTo>
                <a:lnTo>
                  <a:pt x="18288000" y="0"/>
                </a:lnTo>
                <a:lnTo>
                  <a:pt x="18288000" y="4164037"/>
                </a:lnTo>
                <a:lnTo>
                  <a:pt x="0" y="41640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a:extLst>
              <a:ext uri="{C183D7F6-B498-43B3-948B-1728B52AA6E4}">
                <adec:decorative xmlns:adec="http://schemas.microsoft.com/office/drawing/2017/decorative" val="1"/>
              </a:ext>
            </a:extLst>
          </p:cNvPr>
          <p:cNvSpPr/>
          <p:nvPr/>
        </p:nvSpPr>
        <p:spPr>
          <a:xfrm flipV="1">
            <a:off x="1222889" y="-387411"/>
            <a:ext cx="2567706" cy="3373451"/>
          </a:xfrm>
          <a:custGeom>
            <a:avLst/>
            <a:gdLst/>
            <a:ahLst/>
            <a:cxnLst/>
            <a:rect l="l" t="t" r="r" b="b"/>
            <a:pathLst>
              <a:path w="2567706" h="3373451">
                <a:moveTo>
                  <a:pt x="0" y="3373452"/>
                </a:moveTo>
                <a:lnTo>
                  <a:pt x="2567706" y="3373452"/>
                </a:lnTo>
                <a:lnTo>
                  <a:pt x="2567706" y="0"/>
                </a:lnTo>
                <a:lnTo>
                  <a:pt x="0" y="0"/>
                </a:lnTo>
                <a:lnTo>
                  <a:pt x="0" y="3373452"/>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a:extLst>
              <a:ext uri="{C183D7F6-B498-43B3-948B-1728B52AA6E4}">
                <adec:decorative xmlns:adec="http://schemas.microsoft.com/office/drawing/2017/decorative" val="1"/>
              </a:ext>
            </a:extLst>
          </p:cNvPr>
          <p:cNvSpPr/>
          <p:nvPr/>
        </p:nvSpPr>
        <p:spPr>
          <a:xfrm rot="-10800000" flipV="1">
            <a:off x="14786756" y="7403374"/>
            <a:ext cx="2582789" cy="3393268"/>
          </a:xfrm>
          <a:custGeom>
            <a:avLst/>
            <a:gdLst/>
            <a:ahLst/>
            <a:cxnLst/>
            <a:rect l="l" t="t" r="r" b="b"/>
            <a:pathLst>
              <a:path w="2582789" h="3393268">
                <a:moveTo>
                  <a:pt x="0" y="3393267"/>
                </a:moveTo>
                <a:lnTo>
                  <a:pt x="2582789" y="3393267"/>
                </a:lnTo>
                <a:lnTo>
                  <a:pt x="2582789" y="0"/>
                </a:lnTo>
                <a:lnTo>
                  <a:pt x="0" y="0"/>
                </a:lnTo>
                <a:lnTo>
                  <a:pt x="0" y="3393267"/>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a:extLst>
              <a:ext uri="{C183D7F6-B498-43B3-948B-1728B52AA6E4}">
                <adec:decorative xmlns:adec="http://schemas.microsoft.com/office/drawing/2017/decorative" val="1"/>
              </a:ext>
            </a:extLst>
          </p:cNvPr>
          <p:cNvSpPr/>
          <p:nvPr/>
        </p:nvSpPr>
        <p:spPr>
          <a:xfrm flipH="1">
            <a:off x="16078150" y="6216062"/>
            <a:ext cx="3293290" cy="4326723"/>
          </a:xfrm>
          <a:custGeom>
            <a:avLst/>
            <a:gdLst/>
            <a:ahLst/>
            <a:cxnLst/>
            <a:rect l="l" t="t" r="r" b="b"/>
            <a:pathLst>
              <a:path w="3293290" h="4326723">
                <a:moveTo>
                  <a:pt x="3293290" y="0"/>
                </a:moveTo>
                <a:lnTo>
                  <a:pt x="0" y="0"/>
                </a:lnTo>
                <a:lnTo>
                  <a:pt x="0" y="4326722"/>
                </a:lnTo>
                <a:lnTo>
                  <a:pt x="3293290" y="4326722"/>
                </a:lnTo>
                <a:lnTo>
                  <a:pt x="329329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val="1"/>
              </a:ext>
            </a:extLst>
          </p:cNvPr>
          <p:cNvSpPr/>
          <p:nvPr/>
        </p:nvSpPr>
        <p:spPr>
          <a:xfrm>
            <a:off x="-476399" y="2173146"/>
            <a:ext cx="5249238" cy="6896447"/>
          </a:xfrm>
          <a:custGeom>
            <a:avLst/>
            <a:gdLst/>
            <a:ahLst/>
            <a:cxnLst/>
            <a:rect l="l" t="t" r="r" b="b"/>
            <a:pathLst>
              <a:path w="5249238" h="6896447">
                <a:moveTo>
                  <a:pt x="0" y="0"/>
                </a:moveTo>
                <a:lnTo>
                  <a:pt x="5249238" y="0"/>
                </a:lnTo>
                <a:lnTo>
                  <a:pt x="5249238" y="6896447"/>
                </a:lnTo>
                <a:lnTo>
                  <a:pt x="0" y="689644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a:extLst>
              <a:ext uri="{C183D7F6-B498-43B3-948B-1728B52AA6E4}">
                <adec:decorative xmlns:adec="http://schemas.microsoft.com/office/drawing/2017/decorative" val="1"/>
              </a:ext>
            </a:extLst>
          </p:cNvPr>
          <p:cNvSpPr/>
          <p:nvPr/>
        </p:nvSpPr>
        <p:spPr>
          <a:xfrm rot="-10800000">
            <a:off x="-286818" y="1217407"/>
            <a:ext cx="5208407" cy="6842803"/>
          </a:xfrm>
          <a:custGeom>
            <a:avLst/>
            <a:gdLst/>
            <a:ahLst/>
            <a:cxnLst/>
            <a:rect l="l" t="t" r="r" b="b"/>
            <a:pathLst>
              <a:path w="5208407" h="6842803">
                <a:moveTo>
                  <a:pt x="0" y="0"/>
                </a:moveTo>
                <a:lnTo>
                  <a:pt x="5208407" y="0"/>
                </a:lnTo>
                <a:lnTo>
                  <a:pt x="5208407" y="6842803"/>
                </a:lnTo>
                <a:lnTo>
                  <a:pt x="0" y="68428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a:extLst>
              <a:ext uri="{C183D7F6-B498-43B3-948B-1728B52AA6E4}">
                <adec:decorative xmlns:adec="http://schemas.microsoft.com/office/drawing/2017/decorative" val="1"/>
              </a:ext>
            </a:extLst>
          </p:cNvPr>
          <p:cNvSpPr/>
          <p:nvPr/>
        </p:nvSpPr>
        <p:spPr>
          <a:xfrm>
            <a:off x="4921589" y="3557484"/>
            <a:ext cx="13366411" cy="3043429"/>
          </a:xfrm>
          <a:custGeom>
            <a:avLst/>
            <a:gdLst/>
            <a:ahLst/>
            <a:cxnLst/>
            <a:rect l="l" t="t" r="r" b="b"/>
            <a:pathLst>
              <a:path w="13366411" h="3043429">
                <a:moveTo>
                  <a:pt x="0" y="0"/>
                </a:moveTo>
                <a:lnTo>
                  <a:pt x="13366411" y="0"/>
                </a:lnTo>
                <a:lnTo>
                  <a:pt x="13366411" y="3043429"/>
                </a:lnTo>
                <a:lnTo>
                  <a:pt x="0" y="30434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a:extLst>
              <a:ext uri="{C183D7F6-B498-43B3-948B-1728B52AA6E4}">
                <adec:decorative xmlns:adec="http://schemas.microsoft.com/office/drawing/2017/decorative" val="1"/>
              </a:ext>
            </a:extLst>
          </p:cNvPr>
          <p:cNvSpPr/>
          <p:nvPr/>
        </p:nvSpPr>
        <p:spPr>
          <a:xfrm>
            <a:off x="13780228" y="-659099"/>
            <a:ext cx="11605199" cy="11605199"/>
          </a:xfrm>
          <a:custGeom>
            <a:avLst/>
            <a:gdLst/>
            <a:ahLst/>
            <a:cxnLst/>
            <a:rect l="l" t="t" r="r" b="b"/>
            <a:pathLst>
              <a:path w="11605199" h="11605199">
                <a:moveTo>
                  <a:pt x="0" y="0"/>
                </a:moveTo>
                <a:lnTo>
                  <a:pt x="11605198" y="0"/>
                </a:lnTo>
                <a:lnTo>
                  <a:pt x="11605198" y="11605198"/>
                </a:lnTo>
                <a:lnTo>
                  <a:pt x="0" y="1160519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6" name="TextBox 6"/>
          <p:cNvSpPr txBox="1"/>
          <p:nvPr/>
        </p:nvSpPr>
        <p:spPr>
          <a:xfrm>
            <a:off x="6315970" y="4223324"/>
            <a:ext cx="7464258" cy="1821302"/>
          </a:xfrm>
          <a:prstGeom prst="rect">
            <a:avLst/>
          </a:prstGeom>
        </p:spPr>
        <p:txBody>
          <a:bodyPr lIns="0" tIns="0" rIns="0" bIns="0" rtlCol="0" anchor="t">
            <a:spAutoFit/>
          </a:bodyPr>
          <a:lstStyle/>
          <a:p>
            <a:pPr algn="l">
              <a:lnSpc>
                <a:spcPts val="11985"/>
              </a:lnSpc>
            </a:pPr>
            <a:r>
              <a:rPr lang="en-US" sz="11866">
                <a:solidFill>
                  <a:srgbClr val="D7FDFF"/>
                </a:solidFill>
                <a:latin typeface="Alegreya Sans SC"/>
                <a:ea typeface="Alegreya Sans SC"/>
                <a:cs typeface="Alegreya Sans SC"/>
                <a:sym typeface="Alegreya Sans SC"/>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317</Words>
  <Application>Microsoft Office PowerPoint</Application>
  <PresentationFormat>Custom</PresentationFormat>
  <Paragraphs>54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Fira Sans</vt:lpstr>
      <vt:lpstr>Alegreya Sans SC</vt:lpstr>
      <vt:lpstr>Alegreya Sans SC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Project Presentation </dc:title>
  <cp:lastModifiedBy>Bilal Ch</cp:lastModifiedBy>
  <cp:revision>6</cp:revision>
  <dcterms:created xsi:type="dcterms:W3CDTF">2006-08-16T00:00:00Z</dcterms:created>
  <dcterms:modified xsi:type="dcterms:W3CDTF">2025-12-22T04:59:05Z</dcterms:modified>
  <dc:identifier>DAG8JBbgtUs</dc:identifier>
</cp:coreProperties>
</file>